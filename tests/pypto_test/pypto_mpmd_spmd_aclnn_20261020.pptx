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· 动态调度到单 SPMD</a:t>
            </a:r>
          </a:p>
          <a:p>
            <a:r>
              <a:t>  本页把用户指定的性能优化方法表达为“MPMD 动态探索 → 验证均衡切分 → 工程蒸馏为单 SPMD → 独立部署”。PyPTO 本身也允许直接编写 SPMD；先取得动态调度基线是本方案的方法与判断依据，不是语言语法限制。</a:t>
            </a:r>
          </a:p>
          <a:p>
            <a:r>
              <a:t>  MPMD 的动态调度负责在依赖满足后派发可运行任务。开发者仍需调整切分、依赖、核数和缓冲；运行时不会自动证明已取得最优或均衡切分。“蒸馏”也不表示现有编译器有一键自动从任意 MPMD 程序转换为最优单 SPMD 的能力。</a:t>
            </a:r>
          </a:p>
          <a:p>
            <a:r>
              <a:t>  </a:t>
            </a:r>
          </a:p>
          <a:p>
            <a:r>
              <a:t>    PyPTO 项目介绍：MPMD Execution Scheduling。</a:t>
            </a:r>
          </a:p>
          <a:p>
            <a:r>
              <a:t>    PyPTO 任务图文档：依赖图与任务就绪。</a:t>
            </a:r>
          </a:p>
          <a:p>
            <a:r>
              <a:t>    PyPTO 运行时开销文档：SPMD 与 kernel 内同步。</a:t>
            </a:r>
          </a:p>
          <a:p>
            <a:r>
              <a:t>    HC_pre 源码（e09b9f6f）：跨组投影 / RMS、会合和全体 AIV 尾段分工。</a:t>
            </a:r>
          </a:p>
          <a:p>
            <a:r>
              <a:t>  </a:t>
            </a:r>
          </a:p>
          <a:p>
            <a:r>
              <a:t>  泳道与核组图只表示工作组织，不是实测数据。SPMD 下核角色、循环次数和条件分支可以不同；“单程序”不要求所有核同时执行完全相同的指令。</a:t>
            </a:r>
          </a:p>
          <a:p/>
          <a:p>
            <a:r>
              <a:t>参考资料链接</a:t>
            </a:r>
          </a:p>
          <a:p>
            <a:r>
              <a:t>PyPTO 项目介绍: https://github.com/hw-native-sys/pypto</a:t>
            </a:r>
          </a:p>
          <a:p>
            <a:r>
              <a:t>PyPTO 任务图文档: https://github.com/hw-native-sys/pypto/blob/main/docs/zh/user/tutorials/04-task-graph.md</a:t>
            </a:r>
          </a:p>
          <a:p>
            <a:r>
              <a:t>PyPTO 运行时开销文档: https://github.com/hw-native-sys/pypto/blob/main/docs/zh/user/performance/02-runtime-overhead.md</a:t>
            </a:r>
          </a:p>
          <a:p>
            <a:r>
              <a:t>HC_pre 源码（e09b9f6f）: https://github.com/nalinaly/vllm-ascend/blob/e09b9f6f46e6ef43ca697baecdcdf8a410a41e8a/vllm_ascend/ops/pypto/hc_pre.py</a:t>
            </a:r>
          </a:p>
          <a:p/>
          <a:p>
            <a:r>
              <a:t>源文件：pypto_mpmd_spmd_aclnn_20261020.html</a:t>
            </a:r>
          </a:p>
          <a:p>
            <a:r>
              <a:t>源文件 SHA256：055bbddcbbac71b14cfc5010efffe6c8524460e662c57d65e62326aa1b4e65ab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· ACLNN 与 SuperKernel：实际接入依据</a:t>
            </a:r>
          </a:p>
          <a:p>
            <a:r>
              <a:t>  本页使用用户提供的 PR #3 及其基础 PR #2。参考基线为 3142f276；基础 SuperKernel 适配提交为 eee187d0c，Early-Start 增量为 36f0a623f。相关记录均为已有验收，本轮只整理材料，没有新跑设备测试。</a:t>
            </a:r>
          </a:p>
          <a:p>
            <a:r>
              <a:t>  </a:t>
            </a:r>
          </a:p>
          <a:p>
            <a:r>
              <a:t>    PR #2：三节点 SuperKernel。OPP 纳入 include/generated；PTO 核号经局部适配接入 AscendC 逻辑核号；按实际平台核数统一 Tiling、任务步长与 FIFO。Add/Mul 使用独立 Ascend C 示例以提供所需 SK 支持。</a:t>
            </a:r>
          </a:p>
          <a:p>
            <a:r>
              <a:t>    PR #3：可选原生 Early-Start。HC_pre 在标量配置后、生成函数前 Wait，生成函数完整返回后 Set；六个 tiling key 共用边界，每个参与核各执行一次。Add/Mul 在 TPipe 构造前 Wait，计算循环后 Set，保留收尾。</a:t>
            </a:r>
          </a:p>
          <a:p>
            <a:r>
              <a:t>    逻辑核号适配头文件：GetBlockIdx / GetTaskRatio 恢复组号，GetBlockNum 提供组数。</a:t>
            </a:r>
          </a:p>
          <a:p>
            <a:r>
              <a:t>    C++ 直接调用 ACLNN：查询、分配工作区、提交、同步后访问结果。</a:t>
            </a:r>
          </a:p>
          <a:p>
            <a:r>
              <a:t>  </a:t>
            </a:r>
          </a:p>
          <a:p>
            <a:r>
              <a:t>  验证范围</a:t>
            </a:r>
          </a:p>
          <a:p>
            <a:r>
              <a:t>  PR 记录环境为 Ascend910_9362、20 AIC / 40 AIV、CANN 9.2.0、Torch/TorchNPU 2.12，设备验收为 T96。普通 SuperKernel 使用 sk_entry_mix12；可选 Early-Start 验证使用 sk_entry_mix12_early_start。两个随机种子的三输出对照、输入保持、前后保护区和实际融合入口均有证据。此处仅展示功能可用。</a:t>
            </a:r>
          </a:p>
          <a:p>
            <a:r>
              <a:t>  部署边界</a:t>
            </a:r>
          </a:p>
          <a:p>
            <a:r>
              <a:t>  “先成为单 SPMD”限定本页的部署路线：不带外部任务调度器，一次 ACLNN 调用直接运行一个自洽 MIX kernel。ACLNN 接口本身并不禁止内部执行多个 kernel，额外实现编排也可支持其他方式。</a:t>
            </a:r>
          </a:p>
          <a:p>
            <a:r>
              <a:t>  普通 ACLNN 使用已编译设备核；本次 SuperKernel 验证路径还会在图初始化时通过 CANN 在线静态编译随包部署的 C++。二者均不需要在执行阶段调用 PyPTO、PTOAS 或 Simpler。本页不展示上层框架代码。</a:t>
            </a:r>
          </a:p>
          <a:p>
            <a:r>
              <a:t>  后续分支对外命名、生成核和验证环境已有变化。本页特意固定 PR #2 / #3 的历史验证范围，不把其结果外推为所有分档、所有后续版本与所有环境已通过。</a:t>
            </a:r>
          </a:p>
          <a:p/>
          <a:p>
            <a:r>
              <a:t>参考资料链接</a:t>
            </a:r>
          </a:p>
          <a:p>
            <a:r>
              <a:t>PR #2：三节点 SuperKernel: https://github.com/mihudaner/vllm-ascend/pull/2</a:t>
            </a:r>
          </a:p>
          <a:p>
            <a:r>
              <a:t>PR #3：可选原生 Early-Start: https://github.com/mihudaner/vllm-ascend/pull/3</a:t>
            </a:r>
          </a:p>
          <a:p>
            <a:r>
              <a:t>逻辑核号适配头文件: https://github.com/mihudaner/vllm-ascend/blob/eee187d0c284a482459136d28b13e952bade0108/examples/hc_pre_pto_aclnn/include/pto_superkernel_adapter.h</a:t>
            </a:r>
          </a:p>
          <a:p>
            <a:r>
              <a:t>C++ 直接调用 ACLNN: https://github.com/mihudaner/vllm-ascend/blob/3142f27651ae258cc733301236facbefb610065c/examples/hc_pre_pto_aclnn/tests/run_aclnn.cpp</a:t>
            </a:r>
          </a:p>
          <a:p/>
          <a:p>
            <a:r>
              <a:t>源文件：pypto_mpmd_spmd_aclnn_20261020.html</a:t>
            </a:r>
          </a:p>
          <a:p>
            <a:r>
              <a:t>源文件 SHA256：055bbddcbbac71b14cfc5010efffe6c8524460e662c57d65e62326aa1b4e65ab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· CSA 与动态 Attention 的权衡</a:t>
            </a:r>
          </a:p>
          <a:p>
            <a:r>
              <a:t>  本页以 CSA 的 metadata、Indexer/Top-K、Attention 阶段为例，说明不同 query 的有效工作量及就绪时刻可能不同。MPMD 可在就绪任务粒度上继续分配工作；其机会受任务依赖、粒度和匹配核资源约束，并不表示能抢占或拆分已在运行的 task。</a:t>
            </a:r>
          </a:p>
          <a:p>
            <a:r>
              <a:t>  图中两侧总工作量相同：A/B/C/D 各为 4 个示意单位，E/F 各为 2 个示意单位。MPMD 三条泳道分别为 A+D、B+E、C+F；固定归属示意分别为 A+B+C、D、E+F。图只解释一种可能的长尾机制，不是本次 CSA 的实测调度轨迹，也没有用它推算加速比例。</a:t>
            </a:r>
          </a:p>
          <a:p>
            <a:r>
              <a:t>  当前单 SPMD 的设备循环和索引可以动态变化，但固定 owner 的工作不会自动迁移到空闲核。通用 SPMD 也可以自行实现核内工作队列，恢复部分动态分配，同时引入相应的调度和同步成本。因此不能把“SPMD”绝对等同于“只能静态调度”。</a:t>
            </a:r>
          </a:p>
          <a:p>
            <a:r>
              <a:t>  </a:t>
            </a:r>
          </a:p>
          <a:p>
            <a:r>
              <a:t>    执行模型参考文章：将任务编排前移、在设备内持续推进 tile 流水的方向。</a:t>
            </a:r>
          </a:p>
          <a:p>
            <a:r>
              <a:t>    CSA Attention 依赖（e09b9f6f）：核归属、query 计划与局部前驱等待。</a:t>
            </a:r>
          </a:p>
          <a:p>
            <a:r>
              <a:t>    PyPTO 任务图语义：就绪任务与依赖。</a:t>
            </a:r>
          </a:p>
          <a:p>
            <a:r>
              <a:t>  </a:t>
            </a:r>
          </a:p>
          <a:p>
            <a:r>
              <a:t>  把稳定执行区域扩大并 AOT 固化成 Engine Kernel 仍是设计方向；但更大范围不自动意味着更快。设备在一次 kernel 生命周期内持续执行，与覆盖多轮解码的常驻服务循环不同，后者还需输入/退出协议、跨轮状态与资源生命周期设计。</a:t>
            </a:r>
          </a:p>
          <a:p/>
          <a:p>
            <a:r>
              <a:t>参考资料链接</a:t>
            </a:r>
          </a:p>
          <a:p>
            <a:r>
              <a:t>执行模型参考文章: https://www.tilert.ai/blog/speed-as-the-next-scaling-law-zh.html</a:t>
            </a:r>
          </a:p>
          <a:p>
            <a:r>
              <a:t>CSA Attention 依赖（e09b9f6f）: https://github.com/nalinaly/vllm-ascend/blob/e09b9f6f46e6ef43ca697baecdcdf8a410a41e8a/vllm_ascend/ops/pypto/deepseek_v4_flash_csa_spmd/attention_dependencies.py</a:t>
            </a:r>
          </a:p>
          <a:p>
            <a:r>
              <a:t>PyPTO 任务图语义: https://github.com/hw-native-sys/pypto/blob/main/docs/zh/user/tutorials/04-task-graph.md</a:t>
            </a:r>
          </a:p>
          <a:p/>
          <a:p>
            <a:r>
              <a:t>源文件：pypto_mpmd_spmd_aclnn_20261020.html</a:t>
            </a:r>
          </a:p>
          <a:p>
            <a:r>
              <a:t>源文件 SHA256：055bbddcbbac71b14cfc5010efffe6c8524460e662c57d65e62326aa1b4e65ab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· 代表性实测与完整计时口径</a:t>
            </a:r>
          </a:p>
          <a:p>
            <a:r>
              <a:t>  数据固定于 19a2048047b94996ffb38ce349b443da000e1518，验证日志第 671 节。本轮只读取已有数据，没有新增设备测试。</a:t>
            </a:r>
          </a:p>
          <a:p>
            <a:r>
              <a:t>  比较正式角色 multitask_current（plan_workers_v1，代码 cc07f727）与同轮 single_spmd，不使用 multitask_candidate，不跨轮选择最好样本。选择 B8 和 B16 作为两种情况的代表。</a:t>
            </a:r>
          </a:p>
          <a:p>
            <a:r>
              <a:t>  L1 定义：最早 incore 开始至最晚 incore 结束的 AICore 首尾跨度，包含内部任务间隙及等待；不是各任务/各核时间之和，不是去掉等待后的有效计算时间，也不是整模型 forward。外层 NPU Event 另行采样，本页不使用外层值，也不将外层减 L1 解释为纯 AICPU 时间。</a:t>
            </a:r>
          </a:p>
          <a:p>
            <a:r>
              <a:t>  范围为 HC_pre + input RMSNorm + CSA + HC_post。条件为单卡、DeepSeek-V4-Flash-0731-w8a8 的第 4 层真实权重、TP1、NZ2、S6、CANN 9.2，以及冻结一致的 PyPTO/PTOAS/Simpler。每个实现每档取五个窗口；条形图显示 mean，表格同时保留 min/max。</a:t>
            </a:r>
          </a:p>
          <a:p>
            <a:r>
              <a:t>  </a:t>
            </a:r>
          </a:p>
          <a:p>
            <a:r>
              <a:t>    七档汇总记录</a:t>
            </a:r>
          </a:p>
          <a:p>
            <a:r>
              <a:t>    128K/B8 原始五窗（μs）：多 task [614.86, 605.86, 619.26, 603.40, 664.38]；单 SPMD [628.96, 630.72, 625.26, 630.66, 644.70]。</a:t>
            </a:r>
          </a:p>
          <a:p>
            <a:r>
              <a:t>    128K/B16 原始五窗（μs）：多 task [842.66, 843.04, 821.40, 823.92, 833.82]；单 SPMD [805.28, 797.80, 804.24, 808.24, 792.86]。</a:t>
            </a:r>
          </a:p>
          <a:p>
            <a:r>
              <a:t>  </a:t>
            </a:r>
          </a:p>
          <a:p>
            <a:r>
              <a:t>  上述样本摘自同轮本地结果文件，已内嵌于本页及 HTML 的 performance-data 数据块；汇总来源为上方已提交的验证日志，无需访问原工作区。</a:t>
            </a:r>
          </a:p>
          <a:p>
            <a:r>
              <a:t>  取值字段为 l1.statistics_us.multitask_current 和 l1.statistics_us.single_spmd。B8 未舍入均值为 621.552 / 632.060 μs；B16 为 832.968 / 801.684 μs。差值为多 task 减单 SPMD，百分比再除以单 SPMD；先按原始值计算，再四舍五入显示，所以显示均值直接相减可能有 0.01 μs 的差别。</a:t>
            </a:r>
          </a:p>
          <a:p>
            <a:r>
              <a:t>  这组结果说明所比较的单 SPMD 并非在所有档位都更快，但不是调度方式的单变量消融实验；不据此断言性能差异全部来自负载均衡，也不推断普遍或统计显著的优势。动态调度仍有继续降低成本、改善执行效率的空间。</a:t>
            </a:r>
          </a:p>
          <a:p/>
          <a:p>
            <a:r>
              <a:t>参考资料链接</a:t>
            </a:r>
          </a:p>
          <a:p>
            <a:r>
              <a:t>19a2048047b94996ffb38ce349b443da000e1518: https://github.com/nalinaly/vllm-ascend/commit/19a2048047b94996ffb38ce349b443da000e1518</a:t>
            </a:r>
          </a:p>
          <a:p>
            <a:r>
              <a:t>七档汇总记录: https://github.com/nalinaly/vllm-ascend/blob/19a2048047b94996ffb38ce349b443da000e1518/tests/pypto_test/DSV4_FLASH_CSA_VALIDATION_LOG.md#671-2026-10-20正式多task外层l1与单spmd的最新七档对比</a:t>
            </a:r>
          </a:p>
          <a:p/>
          <a:p>
            <a:r>
              <a:t>源文件：pypto_mpmd_spmd_aclnn_20261020.html</a:t>
            </a:r>
          </a:p>
          <a:p>
            <a:r>
              <a:t>源文件 SHA256：055bbddcbbac71b14cfc5010efffe6c8524460e662c57d65e62326aa1b4e65ab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hudaner/vllm-ascend/pull/3" TargetMode="External"/><Relationship Id="rId3" Type="http://schemas.openxmlformats.org/officeDocument/2006/relationships/slide" Target="slide3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nalinaly/vllm-ascend/commit/19a2048047b94996ffb38ce349b443da000e1518" TargetMode="External"/><Relationship Id="rId3" Type="http://schemas.openxmlformats.org/officeDocument/2006/relationships/slide" Target="slide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先动态调度求均衡，再把执行图蒸馏成单 SPMD"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形状 顶部色条"/>
          <p:cNvSpPr/>
          <p:nvPr/>
        </p:nvSpPr>
        <p:spPr>
          <a:xfrm>
            <a:off x="0" y="0"/>
            <a:ext cx="9363456" cy="54864"/>
          </a:xfrm>
          <a:prstGeom prst="rect">
            <a:avLst/>
          </a:prstGeom>
          <a:solidFill>
            <a:srgbClr val="245B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形状 顶部色条"/>
          <p:cNvSpPr/>
          <p:nvPr/>
        </p:nvSpPr>
        <p:spPr>
          <a:xfrm>
            <a:off x="9363456" y="0"/>
            <a:ext cx="5266944" cy="54864"/>
          </a:xfrm>
          <a:prstGeom prst="rect">
            <a:avLst/>
          </a:prstGeom>
          <a:solidFill>
            <a:srgbClr val="0879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文字 PyPTO"/>
          <p:cNvSpPr txBox="1"/>
          <p:nvPr/>
        </p:nvSpPr>
        <p:spPr>
          <a:xfrm>
            <a:off x="475488" y="304495"/>
            <a:ext cx="51349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dirty="0" spc="86">
                <a:solidFill>
                  <a:srgbClr val="245BD6"/>
                </a:solidFill>
                <a:latin typeface="Microsoft YaHei"/>
                <a:ea typeface="Microsoft YaHei"/>
              </a:rPr>
              <a:t>PyPTO</a:t>
            </a:r>
          </a:p>
        </p:txBody>
      </p:sp>
      <p:sp>
        <p:nvSpPr>
          <p:cNvPr id="5" name="文字 /"/>
          <p:cNvSpPr txBox="1"/>
          <p:nvPr/>
        </p:nvSpPr>
        <p:spPr>
          <a:xfrm>
            <a:off x="1062132" y="304495"/>
            <a:ext cx="10615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 spc="72">
                <a:solidFill>
                  <a:srgbClr val="B5C3D4"/>
                </a:solidFill>
                <a:latin typeface="Microsoft YaHei"/>
                <a:ea typeface="Microsoft YaHei"/>
              </a:rPr>
              <a:t>/</a:t>
            </a:r>
          </a:p>
        </p:txBody>
      </p:sp>
      <p:sp>
        <p:nvSpPr>
          <p:cNvPr id="6" name="文字 从动态调度到独立执行"/>
          <p:cNvSpPr txBox="1"/>
          <p:nvPr/>
        </p:nvSpPr>
        <p:spPr>
          <a:xfrm>
            <a:off x="1241440" y="304495"/>
            <a:ext cx="15087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 spc="72">
                <a:solidFill>
                  <a:srgbClr val="607286"/>
                </a:solidFill>
                <a:latin typeface="Microsoft YaHei"/>
                <a:ea typeface="Microsoft YaHei"/>
              </a:rPr>
              <a:t>从动态调度到独立执行</a:t>
            </a:r>
          </a:p>
        </p:txBody>
      </p:sp>
      <p:sp>
        <p:nvSpPr>
          <p:cNvPr id="7" name="文字 01 均衡与蒸馏"/>
          <p:cNvSpPr txBox="1"/>
          <p:nvPr/>
        </p:nvSpPr>
        <p:spPr>
          <a:xfrm>
            <a:off x="9918954" y="318211"/>
            <a:ext cx="80195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245BD6"/>
                </a:solidFill>
                <a:latin typeface="Microsoft YaHei"/>
                <a:ea typeface="Microsoft YaHei"/>
              </a:rPr>
              <a:t>01 均衡与蒸馏</a:t>
            </a:r>
          </a:p>
        </p:txBody>
      </p:sp>
      <p:sp>
        <p:nvSpPr>
          <p:cNvPr id="8" name="文字 02 ACLNN 与 SuperKernel"/>
          <p:cNvSpPr txBox="1"/>
          <p:nvPr/>
        </p:nvSpPr>
        <p:spPr>
          <a:xfrm>
            <a:off x="10821495" y="318211"/>
            <a:ext cx="141932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02 ACLNN 与 SuperKernel</a:t>
            </a:r>
          </a:p>
        </p:txBody>
      </p:sp>
      <p:sp>
        <p:nvSpPr>
          <p:cNvPr id="9" name="文字 03 动态负载权衡"/>
          <p:cNvSpPr txBox="1"/>
          <p:nvPr/>
        </p:nvSpPr>
        <p:spPr>
          <a:xfrm>
            <a:off x="12341399" y="318211"/>
            <a:ext cx="92082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03 动态负载权衡</a:t>
            </a:r>
          </a:p>
        </p:txBody>
      </p:sp>
      <p:sp>
        <p:nvSpPr>
          <p:cNvPr id="10" name="文字 04 L1 实测证据"/>
          <p:cNvSpPr txBox="1"/>
          <p:nvPr/>
        </p:nvSpPr>
        <p:spPr>
          <a:xfrm>
            <a:off x="13362813" y="318211"/>
            <a:ext cx="83781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04 L1 实测证据</a:t>
            </a:r>
          </a:p>
        </p:txBody>
      </p:sp>
      <p:sp>
        <p:nvSpPr>
          <p:cNvPr id="11" name="标题 先动态调度求均衡，再把执行图"/>
          <p:cNvSpPr txBox="1"/>
          <p:nvPr/>
        </p:nvSpPr>
        <p:spPr>
          <a:xfrm>
            <a:off x="475488" y="651967"/>
            <a:ext cx="5294376" cy="466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 lang="zh-CN" dirty="0" spc="-72">
                <a:solidFill>
                  <a:srgbClr val="142C45"/>
                </a:solidFill>
                <a:latin typeface="Microsoft YaHei"/>
                <a:ea typeface="Microsoft YaHei"/>
              </a:rPr>
              <a:t>先动态调度求均衡，再把执行图</a:t>
            </a:r>
          </a:p>
        </p:txBody>
      </p:sp>
      <p:sp>
        <p:nvSpPr>
          <p:cNvPr id="12" name="标题 蒸馏成单 SPMD"/>
          <p:cNvSpPr txBox="1"/>
          <p:nvPr/>
        </p:nvSpPr>
        <p:spPr>
          <a:xfrm>
            <a:off x="5724144" y="651967"/>
            <a:ext cx="2649902" cy="466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 lang="zh-CN" dirty="0" spc="-72">
                <a:solidFill>
                  <a:srgbClr val="245BD6"/>
                </a:solidFill>
                <a:latin typeface="Microsoft YaHei"/>
                <a:ea typeface="Microsoft YaHei"/>
              </a:rPr>
              <a:t>蒸馏成单 SPMD</a:t>
            </a:r>
          </a:p>
        </p:txBody>
      </p:sp>
      <p:sp>
        <p:nvSpPr>
          <p:cNvPr id="13" name="文字 本方案先利用 PyPTO 的"/>
          <p:cNvSpPr txBox="1"/>
          <p:nvPr/>
        </p:nvSpPr>
        <p:spPr>
          <a:xfrm>
            <a:off x="475488" y="1242612"/>
            <a:ext cx="1946243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本方案先利用 PyPTO 的</a:t>
            </a:r>
          </a:p>
        </p:txBody>
      </p:sp>
      <p:sp>
        <p:nvSpPr>
          <p:cNvPr id="14" name="文字 MPMD"/>
          <p:cNvSpPr txBox="1"/>
          <p:nvPr/>
        </p:nvSpPr>
        <p:spPr>
          <a:xfrm>
            <a:off x="2423588" y="1242612"/>
            <a:ext cx="61722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MPMD</a:t>
            </a:r>
          </a:p>
        </p:txBody>
      </p:sp>
      <p:sp>
        <p:nvSpPr>
          <p:cNvPr id="15" name="文字 执行能力探索性能，再把经过验证的任务切分、核分工与依赖固化。"/>
          <p:cNvSpPr txBox="1"/>
          <p:nvPr/>
        </p:nvSpPr>
        <p:spPr>
          <a:xfrm>
            <a:off x="3042523" y="1242612"/>
            <a:ext cx="5532262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执行能力探索性能，再把经过验证的任务切分、核分工与依赖固化。</a:t>
            </a:r>
          </a:p>
        </p:txBody>
      </p:sp>
      <p:sp>
        <p:nvSpPr>
          <p:cNvPr id="16" name="形状 ribbon"/>
          <p:cNvSpPr/>
          <p:nvPr/>
        </p:nvSpPr>
        <p:spPr>
          <a:xfrm>
            <a:off x="475488" y="1715357"/>
            <a:ext cx="13679424" cy="585216"/>
          </a:xfrm>
          <a:prstGeom prst="roundRect">
            <a:avLst>
              <a:gd name="adj" fmla="val 15625"/>
            </a:avLst>
          </a:prstGeom>
          <a:solidFill>
            <a:srgbClr val="203E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形状 "/>
          <p:cNvSpPr/>
          <p:nvPr/>
        </p:nvSpPr>
        <p:spPr>
          <a:xfrm>
            <a:off x="676656" y="1875377"/>
            <a:ext cx="676656" cy="265176"/>
          </a:xfrm>
          <a:prstGeom prst="roundRect">
            <a:avLst>
              <a:gd name="adj" fmla="val 17241"/>
            </a:avLst>
          </a:prstGeom>
          <a:solidFill>
            <a:srgbClr val="FFFFFF">
              <a:alpha val="98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文字 核心前提"/>
          <p:cNvSpPr txBox="1"/>
          <p:nvPr/>
        </p:nvSpPr>
        <p:spPr>
          <a:xfrm>
            <a:off x="758952" y="1932984"/>
            <a:ext cx="557784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 lang="zh-CN" dirty="0">
                <a:solidFill>
                  <a:srgbClr val="C1D6FF"/>
                </a:solidFill>
                <a:latin typeface="Microsoft YaHei"/>
                <a:ea typeface="Microsoft YaHei"/>
              </a:rPr>
              <a:t>核心前提</a:t>
            </a:r>
          </a:p>
        </p:txBody>
      </p:sp>
      <p:sp>
        <p:nvSpPr>
          <p:cNvPr id="19" name="文字 动态调度下已取得可行、均衡的切分"/>
          <p:cNvSpPr txBox="1"/>
          <p:nvPr/>
        </p:nvSpPr>
        <p:spPr>
          <a:xfrm>
            <a:off x="1508760" y="1891836"/>
            <a:ext cx="3410712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 i="0" lang="zh-CN" dirty="0">
                <a:solidFill>
                  <a:srgbClr val="FFFFFF"/>
                </a:solidFill>
                <a:latin typeface="Microsoft YaHei"/>
                <a:ea typeface="Microsoft YaHei"/>
              </a:rPr>
              <a:t>动态调度下已取得可行、均衡的切分</a:t>
            </a:r>
          </a:p>
        </p:txBody>
      </p:sp>
      <p:sp>
        <p:nvSpPr>
          <p:cNvPr id="20" name="文字 →"/>
          <p:cNvSpPr txBox="1"/>
          <p:nvPr/>
        </p:nvSpPr>
        <p:spPr>
          <a:xfrm>
            <a:off x="5029200" y="1882692"/>
            <a:ext cx="222027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 i="0" lang="zh-CN" dirty="0">
                <a:solidFill>
                  <a:srgbClr val="A9CAFF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文字 才有将调度蒸馏进单 SPMD 的依据"/>
          <p:cNvSpPr txBox="1"/>
          <p:nvPr/>
        </p:nvSpPr>
        <p:spPr>
          <a:xfrm>
            <a:off x="5360955" y="1891836"/>
            <a:ext cx="3254121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 i="0" lang="zh-CN" dirty="0">
                <a:solidFill>
                  <a:srgbClr val="FFFFFF"/>
                </a:solidFill>
                <a:latin typeface="Microsoft YaHei"/>
                <a:ea typeface="Microsoft YaHei"/>
              </a:rPr>
              <a:t>才有将调度蒸馏进单 SPMD 的依据</a:t>
            </a:r>
          </a:p>
        </p:txBody>
      </p:sp>
      <p:sp>
        <p:nvSpPr>
          <p:cNvPr id="22" name="形状 panel mpmd"/>
          <p:cNvSpPr/>
          <p:nvPr/>
        </p:nvSpPr>
        <p:spPr>
          <a:xfrm>
            <a:off x="475488" y="2510885"/>
            <a:ext cx="4206240" cy="3877056"/>
          </a:xfrm>
          <a:prstGeom prst="roundRect">
            <a:avLst>
              <a:gd name="adj" fmla="val 3066"/>
            </a:avLst>
          </a:prstGeom>
          <a:solidFill>
            <a:srgbClr val="FFFFFF"/>
          </a:solidFill>
          <a:ln w="9144">
            <a:solidFill>
              <a:srgbClr val="D5E0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文字 01 / MPMD · EXPLORE"/>
          <p:cNvSpPr txBox="1"/>
          <p:nvPr/>
        </p:nvSpPr>
        <p:spPr>
          <a:xfrm>
            <a:off x="694944" y="2705652"/>
            <a:ext cx="1770935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 spc="115">
                <a:solidFill>
                  <a:srgbClr val="245BD6"/>
                </a:solidFill>
                <a:latin typeface="Arial"/>
                <a:ea typeface="Microsoft YaHei"/>
              </a:rPr>
              <a:t>01 / MPMD · EXPLORE</a:t>
            </a:r>
          </a:p>
        </p:txBody>
      </p:sp>
      <p:sp>
        <p:nvSpPr>
          <p:cNvPr id="24" name="标题 先把任务图跑顺、跑均衡"/>
          <p:cNvSpPr txBox="1"/>
          <p:nvPr/>
        </p:nvSpPr>
        <p:spPr>
          <a:xfrm>
            <a:off x="694944" y="2935966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先把任务图跑顺、跑均衡</a:t>
            </a:r>
          </a:p>
        </p:txBody>
      </p:sp>
      <p:sp>
        <p:nvSpPr>
          <p:cNvPr id="25" name="文字 多个任务程序，处理不同数据与计算阶段。"/>
          <p:cNvSpPr txBox="1"/>
          <p:nvPr/>
        </p:nvSpPr>
        <p:spPr>
          <a:xfrm>
            <a:off x="694944" y="3315442"/>
            <a:ext cx="2999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多个任务程序，处理不同数据与计算阶段。</a:t>
            </a:r>
          </a:p>
        </p:txBody>
      </p:sp>
      <p:sp>
        <p:nvSpPr>
          <p:cNvPr id="26" name="形状 chip"/>
          <p:cNvSpPr/>
          <p:nvPr/>
        </p:nvSpPr>
        <p:spPr>
          <a:xfrm>
            <a:off x="694944" y="3683031"/>
            <a:ext cx="475488" cy="310896"/>
          </a:xfrm>
          <a:prstGeom prst="roundRect">
            <a:avLst>
              <a:gd name="adj" fmla="val 17647"/>
            </a:avLst>
          </a:prstGeom>
          <a:solidFill>
            <a:srgbClr val="ED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文字 投影"/>
          <p:cNvSpPr txBox="1"/>
          <p:nvPr/>
        </p:nvSpPr>
        <p:spPr>
          <a:xfrm>
            <a:off x="795528" y="3758926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dirty="0">
                <a:solidFill>
                  <a:srgbClr val="2354B2"/>
                </a:solidFill>
                <a:latin typeface="Microsoft YaHei"/>
                <a:ea typeface="Microsoft YaHei"/>
              </a:rPr>
              <a:t>投影</a:t>
            </a:r>
          </a:p>
        </p:txBody>
      </p:sp>
      <p:sp>
        <p:nvSpPr>
          <p:cNvPr id="28" name="形状 chip v"/>
          <p:cNvSpPr/>
          <p:nvPr/>
        </p:nvSpPr>
        <p:spPr>
          <a:xfrm>
            <a:off x="1243584" y="3683031"/>
            <a:ext cx="484774" cy="310896"/>
          </a:xfrm>
          <a:prstGeom prst="roundRect">
            <a:avLst>
              <a:gd name="adj" fmla="val 17647"/>
            </a:avLst>
          </a:prstGeom>
          <a:solidFill>
            <a:srgbClr val="E2F4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文字 RMS"/>
          <p:cNvSpPr txBox="1"/>
          <p:nvPr/>
        </p:nvSpPr>
        <p:spPr>
          <a:xfrm>
            <a:off x="1344168" y="3740638"/>
            <a:ext cx="32932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dirty="0">
                <a:solidFill>
                  <a:srgbClr val="0C7062"/>
                </a:solidFill>
                <a:latin typeface="Microsoft YaHei"/>
                <a:ea typeface="Microsoft YaHei"/>
              </a:rPr>
              <a:t>RMS</a:t>
            </a:r>
          </a:p>
        </p:txBody>
      </p:sp>
      <p:sp>
        <p:nvSpPr>
          <p:cNvPr id="30" name="形状 chip v"/>
          <p:cNvSpPr/>
          <p:nvPr/>
        </p:nvSpPr>
        <p:spPr>
          <a:xfrm>
            <a:off x="1801510" y="3683031"/>
            <a:ext cx="475488" cy="310896"/>
          </a:xfrm>
          <a:prstGeom prst="roundRect">
            <a:avLst>
              <a:gd name="adj" fmla="val 17647"/>
            </a:avLst>
          </a:prstGeom>
          <a:solidFill>
            <a:srgbClr val="E2F4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文字 门控"/>
          <p:cNvSpPr txBox="1"/>
          <p:nvPr/>
        </p:nvSpPr>
        <p:spPr>
          <a:xfrm>
            <a:off x="1902094" y="3758926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dirty="0">
                <a:solidFill>
                  <a:srgbClr val="0C7062"/>
                </a:solidFill>
                <a:latin typeface="Microsoft YaHei"/>
                <a:ea typeface="Microsoft YaHei"/>
              </a:rPr>
              <a:t>门控</a:t>
            </a:r>
          </a:p>
        </p:txBody>
      </p:sp>
      <p:sp>
        <p:nvSpPr>
          <p:cNvPr id="32" name="形状 chip v"/>
          <p:cNvSpPr/>
          <p:nvPr/>
        </p:nvSpPr>
        <p:spPr>
          <a:xfrm>
            <a:off x="2350150" y="3683031"/>
            <a:ext cx="795528" cy="310896"/>
          </a:xfrm>
          <a:prstGeom prst="roundRect">
            <a:avLst>
              <a:gd name="adj" fmla="val 17647"/>
            </a:avLst>
          </a:prstGeom>
          <a:solidFill>
            <a:srgbClr val="E2F4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文字 Sinkhorn"/>
          <p:cNvSpPr txBox="1"/>
          <p:nvPr/>
        </p:nvSpPr>
        <p:spPr>
          <a:xfrm>
            <a:off x="2450734" y="3740638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dirty="0">
                <a:solidFill>
                  <a:srgbClr val="0C7062"/>
                </a:solidFill>
                <a:latin typeface="Microsoft YaHei"/>
                <a:ea typeface="Microsoft YaHei"/>
              </a:rPr>
              <a:t>Sinkhorn</a:t>
            </a:r>
          </a:p>
        </p:txBody>
      </p:sp>
      <p:sp>
        <p:nvSpPr>
          <p:cNvPr id="34" name="形状 queue"/>
          <p:cNvSpPr/>
          <p:nvPr/>
        </p:nvSpPr>
        <p:spPr>
          <a:xfrm>
            <a:off x="694944" y="4103655"/>
            <a:ext cx="3767328" cy="457200"/>
          </a:xfrm>
          <a:prstGeom prst="roundRect">
            <a:avLst>
              <a:gd name="adj" fmla="val 16000"/>
            </a:avLst>
          </a:prstGeom>
          <a:solidFill>
            <a:srgbClr val="F2F6FC"/>
          </a:solidFill>
          <a:ln w="9144">
            <a:solidFill>
              <a:srgbClr val="D8E3F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文字 就绪任务 → 动态调度"/>
          <p:cNvSpPr txBox="1"/>
          <p:nvPr/>
        </p:nvSpPr>
        <p:spPr>
          <a:xfrm>
            <a:off x="850392" y="4234414"/>
            <a:ext cx="1585912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就绪任务 → 动态调度</a:t>
            </a:r>
          </a:p>
        </p:txBody>
      </p:sp>
      <p:sp>
        <p:nvSpPr>
          <p:cNvPr id="36" name="文字 匹配空闲核资源"/>
          <p:cNvSpPr txBox="1"/>
          <p:nvPr/>
        </p:nvSpPr>
        <p:spPr>
          <a:xfrm>
            <a:off x="3410712" y="4257274"/>
            <a:ext cx="94183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5D7290"/>
                </a:solidFill>
                <a:latin typeface="Microsoft YaHei"/>
                <a:ea typeface="Microsoft YaHei"/>
              </a:rPr>
              <a:t>匹配空闲核资源</a:t>
            </a:r>
          </a:p>
        </p:txBody>
      </p:sp>
      <p:sp>
        <p:nvSpPr>
          <p:cNvPr id="37" name="文字 执行示意 · 非实测泳道"/>
          <p:cNvSpPr txBox="1"/>
          <p:nvPr/>
        </p:nvSpPr>
        <p:spPr>
          <a:xfrm>
            <a:off x="3298698" y="4645894"/>
            <a:ext cx="1209294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8795A4"/>
                </a:solidFill>
                <a:latin typeface="Microsoft YaHei"/>
                <a:ea typeface="Microsoft YaHei"/>
              </a:rPr>
              <a:t>执行示意 · 非实测泳道</a:t>
            </a:r>
          </a:p>
        </p:txBody>
      </p:sp>
      <p:sp>
        <p:nvSpPr>
          <p:cNvPr id="38" name="文字 AIC"/>
          <p:cNvSpPr txBox="1"/>
          <p:nvPr/>
        </p:nvSpPr>
        <p:spPr>
          <a:xfrm>
            <a:off x="694944" y="4897354"/>
            <a:ext cx="252031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 lang="zh-CN" dirty="0">
                <a:solidFill>
                  <a:srgbClr val="63768F"/>
                </a:solidFill>
                <a:latin typeface="Arial"/>
                <a:ea typeface="Microsoft YaHei"/>
              </a:rPr>
              <a:t>AIC</a:t>
            </a:r>
          </a:p>
        </p:txBody>
      </p:sp>
      <p:sp>
        <p:nvSpPr>
          <p:cNvPr id="39" name="形状 track"/>
          <p:cNvSpPr/>
          <p:nvPr/>
        </p:nvSpPr>
        <p:spPr>
          <a:xfrm>
            <a:off x="1143000" y="4853463"/>
            <a:ext cx="3319272" cy="2286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形状 tile"/>
          <p:cNvSpPr/>
          <p:nvPr/>
        </p:nvSpPr>
        <p:spPr>
          <a:xfrm>
            <a:off x="1161288" y="4871751"/>
            <a:ext cx="1017555" cy="192024"/>
          </a:xfrm>
          <a:prstGeom prst="roundRect">
            <a:avLst>
              <a:gd name="adj" fmla="val 14285"/>
            </a:avLst>
          </a:prstGeom>
          <a:solidFill>
            <a:srgbClr val="87A8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文字 投影 0"/>
          <p:cNvSpPr txBox="1"/>
          <p:nvPr/>
        </p:nvSpPr>
        <p:spPr>
          <a:xfrm>
            <a:off x="1528619" y="4906498"/>
            <a:ext cx="32846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173F8D"/>
                </a:solidFill>
                <a:latin typeface="Microsoft YaHei"/>
                <a:ea typeface="Microsoft YaHei"/>
              </a:rPr>
              <a:t>投影 0</a:t>
            </a:r>
          </a:p>
        </p:txBody>
      </p:sp>
      <p:sp>
        <p:nvSpPr>
          <p:cNvPr id="42" name="形状 tile"/>
          <p:cNvSpPr/>
          <p:nvPr/>
        </p:nvSpPr>
        <p:spPr>
          <a:xfrm>
            <a:off x="2215419" y="4871751"/>
            <a:ext cx="1017555" cy="192024"/>
          </a:xfrm>
          <a:prstGeom prst="roundRect">
            <a:avLst>
              <a:gd name="adj" fmla="val 14285"/>
            </a:avLst>
          </a:prstGeom>
          <a:solidFill>
            <a:srgbClr val="87A8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文字 投影 1"/>
          <p:cNvSpPr txBox="1"/>
          <p:nvPr/>
        </p:nvSpPr>
        <p:spPr>
          <a:xfrm>
            <a:off x="2582751" y="4906498"/>
            <a:ext cx="32846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173F8D"/>
                </a:solidFill>
                <a:latin typeface="Microsoft YaHei"/>
                <a:ea typeface="Microsoft YaHei"/>
              </a:rPr>
              <a:t>投影 1</a:t>
            </a:r>
          </a:p>
        </p:txBody>
      </p:sp>
      <p:sp>
        <p:nvSpPr>
          <p:cNvPr id="44" name="形状 tile"/>
          <p:cNvSpPr/>
          <p:nvPr/>
        </p:nvSpPr>
        <p:spPr>
          <a:xfrm>
            <a:off x="3269551" y="4871751"/>
            <a:ext cx="1017555" cy="192024"/>
          </a:xfrm>
          <a:prstGeom prst="roundRect">
            <a:avLst>
              <a:gd name="adj" fmla="val 14285"/>
            </a:avLst>
          </a:prstGeom>
          <a:solidFill>
            <a:srgbClr val="87A8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文字 投影 2"/>
          <p:cNvSpPr txBox="1"/>
          <p:nvPr/>
        </p:nvSpPr>
        <p:spPr>
          <a:xfrm>
            <a:off x="3636883" y="4906498"/>
            <a:ext cx="32846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173F8D"/>
                </a:solidFill>
                <a:latin typeface="Microsoft YaHei"/>
                <a:ea typeface="Microsoft YaHei"/>
              </a:rPr>
              <a:t>投影 2</a:t>
            </a:r>
          </a:p>
        </p:txBody>
      </p:sp>
      <p:sp>
        <p:nvSpPr>
          <p:cNvPr id="46" name="文字 AIV 0"/>
          <p:cNvSpPr txBox="1"/>
          <p:nvPr/>
        </p:nvSpPr>
        <p:spPr>
          <a:xfrm>
            <a:off x="694944" y="5189962"/>
            <a:ext cx="37104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 lang="zh-CN" dirty="0">
                <a:solidFill>
                  <a:srgbClr val="63768F"/>
                </a:solidFill>
                <a:latin typeface="Arial"/>
                <a:ea typeface="Microsoft YaHei"/>
              </a:rPr>
              <a:t>AIV 0</a:t>
            </a:r>
          </a:p>
        </p:txBody>
      </p:sp>
      <p:sp>
        <p:nvSpPr>
          <p:cNvPr id="47" name="形状 track"/>
          <p:cNvSpPr/>
          <p:nvPr/>
        </p:nvSpPr>
        <p:spPr>
          <a:xfrm>
            <a:off x="1143000" y="5146071"/>
            <a:ext cx="3319272" cy="2286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形状 tile v"/>
          <p:cNvSpPr/>
          <p:nvPr/>
        </p:nvSpPr>
        <p:spPr>
          <a:xfrm>
            <a:off x="1161288" y="5164359"/>
            <a:ext cx="754951" cy="192024"/>
          </a:xfrm>
          <a:prstGeom prst="roundRect">
            <a:avLst>
              <a:gd name="adj" fmla="val 14285"/>
            </a:avLst>
          </a:prstGeom>
          <a:solidFill>
            <a:srgbClr val="8ED2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文字 RMS"/>
          <p:cNvSpPr txBox="1"/>
          <p:nvPr/>
        </p:nvSpPr>
        <p:spPr>
          <a:xfrm>
            <a:off x="1439179" y="5194534"/>
            <a:ext cx="244887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155F50"/>
                </a:solidFill>
                <a:latin typeface="Microsoft YaHei"/>
                <a:ea typeface="Microsoft YaHei"/>
              </a:rPr>
              <a:t>RMS</a:t>
            </a:r>
          </a:p>
        </p:txBody>
      </p:sp>
      <p:sp>
        <p:nvSpPr>
          <p:cNvPr id="50" name="形状 tile v"/>
          <p:cNvSpPr/>
          <p:nvPr/>
        </p:nvSpPr>
        <p:spPr>
          <a:xfrm>
            <a:off x="1952815" y="5164359"/>
            <a:ext cx="1148857" cy="192024"/>
          </a:xfrm>
          <a:prstGeom prst="roundRect">
            <a:avLst>
              <a:gd name="adj" fmla="val 14285"/>
            </a:avLst>
          </a:prstGeom>
          <a:solidFill>
            <a:srgbClr val="8ED2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文字 门控"/>
          <p:cNvSpPr txBox="1"/>
          <p:nvPr/>
        </p:nvSpPr>
        <p:spPr>
          <a:xfrm>
            <a:off x="2426589" y="5199106"/>
            <a:ext cx="24688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155F50"/>
                </a:solidFill>
                <a:latin typeface="Microsoft YaHei"/>
                <a:ea typeface="Microsoft YaHei"/>
              </a:rPr>
              <a:t>门控</a:t>
            </a:r>
          </a:p>
        </p:txBody>
      </p:sp>
      <p:sp>
        <p:nvSpPr>
          <p:cNvPr id="52" name="形状 tile v"/>
          <p:cNvSpPr/>
          <p:nvPr/>
        </p:nvSpPr>
        <p:spPr>
          <a:xfrm>
            <a:off x="3138249" y="5164359"/>
            <a:ext cx="1148857" cy="192024"/>
          </a:xfrm>
          <a:prstGeom prst="roundRect">
            <a:avLst>
              <a:gd name="adj" fmla="val 14285"/>
            </a:avLst>
          </a:prstGeom>
          <a:solidFill>
            <a:srgbClr val="8ED2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文字 混合"/>
          <p:cNvSpPr txBox="1"/>
          <p:nvPr/>
        </p:nvSpPr>
        <p:spPr>
          <a:xfrm>
            <a:off x="3612022" y="5199106"/>
            <a:ext cx="24688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155F50"/>
                </a:solidFill>
                <a:latin typeface="Microsoft YaHei"/>
                <a:ea typeface="Microsoft YaHei"/>
              </a:rPr>
              <a:t>混合</a:t>
            </a:r>
          </a:p>
        </p:txBody>
      </p:sp>
      <p:sp>
        <p:nvSpPr>
          <p:cNvPr id="54" name="文字 AIV 1"/>
          <p:cNvSpPr txBox="1"/>
          <p:nvPr/>
        </p:nvSpPr>
        <p:spPr>
          <a:xfrm>
            <a:off x="694944" y="5482570"/>
            <a:ext cx="37104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 lang="zh-CN" dirty="0">
                <a:solidFill>
                  <a:srgbClr val="63768F"/>
                </a:solidFill>
                <a:latin typeface="Arial"/>
                <a:ea typeface="Microsoft YaHei"/>
              </a:rPr>
              <a:t>AIV 1</a:t>
            </a:r>
          </a:p>
        </p:txBody>
      </p:sp>
      <p:sp>
        <p:nvSpPr>
          <p:cNvPr id="55" name="形状 track"/>
          <p:cNvSpPr/>
          <p:nvPr/>
        </p:nvSpPr>
        <p:spPr>
          <a:xfrm>
            <a:off x="1143000" y="5438679"/>
            <a:ext cx="3319272" cy="2286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形状 tile v"/>
          <p:cNvSpPr/>
          <p:nvPr/>
        </p:nvSpPr>
        <p:spPr>
          <a:xfrm>
            <a:off x="1161288" y="5456967"/>
            <a:ext cx="754951" cy="192024"/>
          </a:xfrm>
          <a:prstGeom prst="roundRect">
            <a:avLst>
              <a:gd name="adj" fmla="val 14285"/>
            </a:avLst>
          </a:prstGeom>
          <a:solidFill>
            <a:srgbClr val="8ED2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文字 RMS"/>
          <p:cNvSpPr txBox="1"/>
          <p:nvPr/>
        </p:nvSpPr>
        <p:spPr>
          <a:xfrm>
            <a:off x="1439179" y="5487142"/>
            <a:ext cx="244887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155F50"/>
                </a:solidFill>
                <a:latin typeface="Microsoft YaHei"/>
                <a:ea typeface="Microsoft YaHei"/>
              </a:rPr>
              <a:t>RMS</a:t>
            </a:r>
          </a:p>
        </p:txBody>
      </p:sp>
      <p:sp>
        <p:nvSpPr>
          <p:cNvPr id="58" name="形状 tile v"/>
          <p:cNvSpPr/>
          <p:nvPr/>
        </p:nvSpPr>
        <p:spPr>
          <a:xfrm>
            <a:off x="2219134" y="5456967"/>
            <a:ext cx="2067972" cy="192024"/>
          </a:xfrm>
          <a:prstGeom prst="roundRect">
            <a:avLst>
              <a:gd name="adj" fmla="val 14285"/>
            </a:avLst>
          </a:prstGeom>
          <a:solidFill>
            <a:srgbClr val="8ED2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文字 Sinkhorn"/>
          <p:cNvSpPr txBox="1"/>
          <p:nvPr/>
        </p:nvSpPr>
        <p:spPr>
          <a:xfrm>
            <a:off x="3051095" y="5487142"/>
            <a:ext cx="44977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155F50"/>
                </a:solidFill>
                <a:latin typeface="Microsoft YaHei"/>
                <a:ea typeface="Microsoft YaHei"/>
              </a:rPr>
              <a:t>Sinkhorn</a:t>
            </a:r>
          </a:p>
        </p:txBody>
      </p:sp>
      <p:sp>
        <p:nvSpPr>
          <p:cNvPr id="60" name="文字 开发者根据 profiling 调整 tile、任务粒度和依赖，消除长"/>
          <p:cNvSpPr txBox="1"/>
          <p:nvPr/>
        </p:nvSpPr>
        <p:spPr>
          <a:xfrm>
            <a:off x="694944" y="5798038"/>
            <a:ext cx="3695319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27489"/>
                </a:solidFill>
                <a:latin typeface="Microsoft YaHei"/>
                <a:ea typeface="Microsoft YaHei"/>
              </a:rPr>
              <a:t>开发者根据 profiling 调整 tile、任务粒度和依赖，消除长</a:t>
            </a:r>
          </a:p>
        </p:txBody>
      </p:sp>
      <p:sp>
        <p:nvSpPr>
          <p:cNvPr id="61" name="文字 尾、空洞与不必要的串行。"/>
          <p:cNvSpPr txBox="1"/>
          <p:nvPr/>
        </p:nvSpPr>
        <p:spPr>
          <a:xfrm>
            <a:off x="694944" y="6024781"/>
            <a:ext cx="180136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27489"/>
                </a:solidFill>
                <a:latin typeface="Microsoft YaHei"/>
                <a:ea typeface="Microsoft YaHei"/>
              </a:rPr>
              <a:t>尾、空洞与不必要的串行。</a:t>
            </a:r>
          </a:p>
        </p:txBody>
      </p:sp>
      <p:sp>
        <p:nvSpPr>
          <p:cNvPr id="62" name="文字 →"/>
          <p:cNvSpPr txBox="1"/>
          <p:nvPr/>
        </p:nvSpPr>
        <p:spPr>
          <a:xfrm>
            <a:off x="4735163" y="4282992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3" name="形状 panel plan"/>
          <p:cNvSpPr/>
          <p:nvPr/>
        </p:nvSpPr>
        <p:spPr>
          <a:xfrm>
            <a:off x="5010912" y="2510885"/>
            <a:ext cx="3877056" cy="3877056"/>
          </a:xfrm>
          <a:prstGeom prst="roundRect">
            <a:avLst>
              <a:gd name="adj" fmla="val 3066"/>
            </a:avLst>
          </a:prstGeom>
          <a:solidFill>
            <a:srgbClr val="F0F5FF"/>
          </a:solidFill>
          <a:ln w="9144">
            <a:solidFill>
              <a:srgbClr val="C8D9F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文字 02 / PLAN · VALIDATE"/>
          <p:cNvSpPr txBox="1"/>
          <p:nvPr/>
        </p:nvSpPr>
        <p:spPr>
          <a:xfrm>
            <a:off x="5230368" y="2705652"/>
            <a:ext cx="1751933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 spc="115">
                <a:solidFill>
                  <a:srgbClr val="245BD6"/>
                </a:solidFill>
                <a:latin typeface="Arial"/>
                <a:ea typeface="Microsoft YaHei"/>
              </a:rPr>
              <a:t>02 / PLAN · VALIDATE</a:t>
            </a:r>
          </a:p>
        </p:txBody>
      </p:sp>
      <p:sp>
        <p:nvSpPr>
          <p:cNvPr id="65" name="标题 提取可复用的执行计划"/>
          <p:cNvSpPr txBox="1"/>
          <p:nvPr/>
        </p:nvSpPr>
        <p:spPr>
          <a:xfrm>
            <a:off x="5230368" y="2935966"/>
            <a:ext cx="242316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提取可复用的执行计划</a:t>
            </a:r>
          </a:p>
        </p:txBody>
      </p:sp>
      <p:sp>
        <p:nvSpPr>
          <p:cNvPr id="66" name="文字 “均匀”按实际计算 / 搬运代价衡量。"/>
          <p:cNvSpPr txBox="1"/>
          <p:nvPr/>
        </p:nvSpPr>
        <p:spPr>
          <a:xfrm>
            <a:off x="5230368" y="3315442"/>
            <a:ext cx="2330719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“均匀”按实际计算 / 搬运代价衡量。</a:t>
            </a:r>
          </a:p>
        </p:txBody>
      </p:sp>
      <p:sp>
        <p:nvSpPr>
          <p:cNvPr id="67" name="形状 "/>
          <p:cNvSpPr/>
          <p:nvPr/>
        </p:nvSpPr>
        <p:spPr>
          <a:xfrm>
            <a:off x="5230368" y="368760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文字 1"/>
          <p:cNvSpPr txBox="1"/>
          <p:nvPr/>
        </p:nvSpPr>
        <p:spPr>
          <a:xfrm>
            <a:off x="5301805" y="3726922"/>
            <a:ext cx="122158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 lang="zh-CN" dirty="0">
                <a:solidFill>
                  <a:srgbClr val="245BD6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69" name="文字 任务切分已均衡"/>
          <p:cNvSpPr txBox="1"/>
          <p:nvPr/>
        </p:nvSpPr>
        <p:spPr>
          <a:xfrm>
            <a:off x="5559552" y="3690346"/>
            <a:ext cx="1197864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任务切分已均衡</a:t>
            </a:r>
          </a:p>
        </p:txBody>
      </p:sp>
      <p:sp>
        <p:nvSpPr>
          <p:cNvPr id="70" name="文字 按代价分工，避免少数核拖尾"/>
          <p:cNvSpPr txBox="1"/>
          <p:nvPr/>
        </p:nvSpPr>
        <p:spPr>
          <a:xfrm>
            <a:off x="5559552" y="3959094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87D96"/>
                </a:solidFill>
                <a:latin typeface="Microsoft YaHei"/>
                <a:ea typeface="Microsoft YaHei"/>
              </a:rPr>
              <a:t>按代价分工，避免少数核拖尾</a:t>
            </a:r>
          </a:p>
        </p:txBody>
      </p:sp>
      <p:sp>
        <p:nvSpPr>
          <p:cNvPr id="71" name="形状 "/>
          <p:cNvSpPr/>
          <p:nvPr/>
        </p:nvSpPr>
        <p:spPr>
          <a:xfrm>
            <a:off x="5230368" y="4230671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文字 2"/>
          <p:cNvSpPr txBox="1"/>
          <p:nvPr/>
        </p:nvSpPr>
        <p:spPr>
          <a:xfrm>
            <a:off x="5301805" y="4269990"/>
            <a:ext cx="122158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 lang="zh-CN" dirty="0">
                <a:solidFill>
                  <a:srgbClr val="245BD6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73" name="文字 流水与依赖已明确"/>
          <p:cNvSpPr txBox="1"/>
          <p:nvPr/>
        </p:nvSpPr>
        <p:spPr>
          <a:xfrm>
            <a:off x="5559552" y="4233414"/>
            <a:ext cx="1362456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流水与依赖已明确</a:t>
            </a:r>
          </a:p>
        </p:txBody>
      </p:sp>
      <p:sp>
        <p:nvSpPr>
          <p:cNvPr id="74" name="文字 保留 C/V 重叠，只等待真正前驱"/>
          <p:cNvSpPr txBox="1"/>
          <p:nvPr/>
        </p:nvSpPr>
        <p:spPr>
          <a:xfrm>
            <a:off x="5559552" y="4502162"/>
            <a:ext cx="1974675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87D96"/>
                </a:solidFill>
                <a:latin typeface="Microsoft YaHei"/>
                <a:ea typeface="Microsoft YaHei"/>
              </a:rPr>
              <a:t>保留 C/V 重叠，只等待真正前驱</a:t>
            </a:r>
          </a:p>
        </p:txBody>
      </p:sp>
      <p:sp>
        <p:nvSpPr>
          <p:cNvPr id="75" name="形状 "/>
          <p:cNvSpPr/>
          <p:nvPr/>
        </p:nvSpPr>
        <p:spPr>
          <a:xfrm>
            <a:off x="5230368" y="477373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文字 3"/>
          <p:cNvSpPr txBox="1"/>
          <p:nvPr/>
        </p:nvSpPr>
        <p:spPr>
          <a:xfrm>
            <a:off x="5301805" y="4813058"/>
            <a:ext cx="122158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 lang="zh-CN" dirty="0">
                <a:solidFill>
                  <a:srgbClr val="245BD6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77" name="文字 缓冲与同步能闭合"/>
          <p:cNvSpPr txBox="1"/>
          <p:nvPr/>
        </p:nvSpPr>
        <p:spPr>
          <a:xfrm>
            <a:off x="5559552" y="4776482"/>
            <a:ext cx="1362456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缓冲与同步能闭合</a:t>
            </a:r>
          </a:p>
        </p:txBody>
      </p:sp>
      <p:sp>
        <p:nvSpPr>
          <p:cNvPr id="78" name="文字 确定 FIFO、复用周期和发布 / 获取"/>
          <p:cNvSpPr txBox="1"/>
          <p:nvPr/>
        </p:nvSpPr>
        <p:spPr>
          <a:xfrm>
            <a:off x="5559552" y="5045230"/>
            <a:ext cx="2132838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87D96"/>
                </a:solidFill>
                <a:latin typeface="Microsoft YaHei"/>
                <a:ea typeface="Microsoft YaHei"/>
              </a:rPr>
              <a:t>确定 FIFO、复用周期和发布 / 获取</a:t>
            </a:r>
          </a:p>
        </p:txBody>
      </p:sp>
      <p:sp>
        <p:nvSpPr>
          <p:cNvPr id="79" name="形状 "/>
          <p:cNvSpPr/>
          <p:nvPr/>
        </p:nvSpPr>
        <p:spPr>
          <a:xfrm>
            <a:off x="5230368" y="5316807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文字 4"/>
          <p:cNvSpPr txBox="1"/>
          <p:nvPr/>
        </p:nvSpPr>
        <p:spPr>
          <a:xfrm>
            <a:off x="5301805" y="5356126"/>
            <a:ext cx="122158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 lang="zh-CN" dirty="0">
                <a:solidFill>
                  <a:srgbClr val="245BD6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81" name="文字 多档位已有基线"/>
          <p:cNvSpPr txBox="1"/>
          <p:nvPr/>
        </p:nvSpPr>
        <p:spPr>
          <a:xfrm>
            <a:off x="5559552" y="5319550"/>
            <a:ext cx="1197864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多档位已有基线</a:t>
            </a:r>
          </a:p>
        </p:txBody>
      </p:sp>
      <p:sp>
        <p:nvSpPr>
          <p:cNvPr id="82" name="文字 正确性、负载变化、完整区间耗时"/>
          <p:cNvSpPr txBox="1"/>
          <p:nvPr/>
        </p:nvSpPr>
        <p:spPr>
          <a:xfrm>
            <a:off x="5559552" y="5588298"/>
            <a:ext cx="210312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87D96"/>
                </a:solidFill>
                <a:latin typeface="Microsoft YaHei"/>
                <a:ea typeface="Microsoft YaHei"/>
              </a:rPr>
              <a:t>正确性、负载变化、完整区间耗时</a:t>
            </a:r>
          </a:p>
        </p:txBody>
      </p:sp>
      <p:sp>
        <p:nvSpPr>
          <p:cNvPr id="83" name="形状 gate"/>
          <p:cNvSpPr/>
          <p:nvPr/>
        </p:nvSpPr>
        <p:spPr>
          <a:xfrm>
            <a:off x="5230368" y="5905595"/>
            <a:ext cx="3438144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230368" y="5905595"/>
            <a:ext cx="3438144" cy="0"/>
          </a:xfrm>
          <a:prstGeom prst="line">
            <a:avLst/>
          </a:prstGeom>
          <a:ln w="9144">
            <a:solidFill>
              <a:srgbClr val="CCD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文字 验证达标 → 再固化核分工与执行结构"/>
          <p:cNvSpPr txBox="1"/>
          <p:nvPr/>
        </p:nvSpPr>
        <p:spPr>
          <a:xfrm>
            <a:off x="5230368" y="6036354"/>
            <a:ext cx="2588466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 i="0" lang="zh-CN" dirty="0">
                <a:solidFill>
                  <a:srgbClr val="2354AF"/>
                </a:solidFill>
                <a:latin typeface="Microsoft YaHei"/>
                <a:ea typeface="Microsoft YaHei"/>
              </a:rPr>
              <a:t>验证达标 → 再固化核分工与执行结构</a:t>
            </a:r>
          </a:p>
        </p:txBody>
      </p:sp>
      <p:sp>
        <p:nvSpPr>
          <p:cNvPr id="86" name="文字 →"/>
          <p:cNvSpPr txBox="1"/>
          <p:nvPr/>
        </p:nvSpPr>
        <p:spPr>
          <a:xfrm>
            <a:off x="8941403" y="4282992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87" name="形状 panel spmd"/>
          <p:cNvSpPr/>
          <p:nvPr/>
        </p:nvSpPr>
        <p:spPr>
          <a:xfrm>
            <a:off x="9217152" y="2510885"/>
            <a:ext cx="4937760" cy="3877056"/>
          </a:xfrm>
          <a:prstGeom prst="roundRect">
            <a:avLst>
              <a:gd name="adj" fmla="val 3066"/>
            </a:avLst>
          </a:prstGeom>
          <a:solidFill>
            <a:srgbClr val="FFFFFF"/>
          </a:solidFill>
          <a:ln w="9144">
            <a:solidFill>
              <a:srgbClr val="D5E0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文字 03 / SPMD · DISTILL"/>
          <p:cNvSpPr txBox="1"/>
          <p:nvPr/>
        </p:nvSpPr>
        <p:spPr>
          <a:xfrm>
            <a:off x="9436608" y="2705652"/>
            <a:ext cx="163834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 spc="115">
                <a:solidFill>
                  <a:srgbClr val="08796E"/>
                </a:solidFill>
                <a:latin typeface="Arial"/>
                <a:ea typeface="Microsoft YaHei"/>
              </a:rPr>
              <a:t>03 / SPMD · DISTILL</a:t>
            </a:r>
          </a:p>
        </p:txBody>
      </p:sp>
      <p:sp>
        <p:nvSpPr>
          <p:cNvPr id="89" name="标题 把调度决策变成设备程序"/>
          <p:cNvSpPr txBox="1"/>
          <p:nvPr/>
        </p:nvSpPr>
        <p:spPr>
          <a:xfrm>
            <a:off x="9436608" y="2935966"/>
            <a:ext cx="2660904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把调度决策变成设备程序</a:t>
            </a:r>
          </a:p>
        </p:txBody>
      </p:sp>
      <p:sp>
        <p:nvSpPr>
          <p:cNvPr id="90" name="文字 一次启动同一组程序，以核号和数据范围分工。"/>
          <p:cNvSpPr txBox="1"/>
          <p:nvPr/>
        </p:nvSpPr>
        <p:spPr>
          <a:xfrm>
            <a:off x="9436608" y="3315442"/>
            <a:ext cx="3310128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一次启动同一组程序，以核号和数据范围分工。</a:t>
            </a:r>
          </a:p>
        </p:txBody>
      </p:sp>
      <p:sp>
        <p:nvSpPr>
          <p:cNvPr id="91" name="形状 groupbox"/>
          <p:cNvSpPr/>
          <p:nvPr/>
        </p:nvSpPr>
        <p:spPr>
          <a:xfrm>
            <a:off x="9436608" y="3683031"/>
            <a:ext cx="4498848" cy="1801368"/>
          </a:xfrm>
          <a:prstGeom prst="roundRect">
            <a:avLst>
              <a:gd name="adj" fmla="val 4568"/>
            </a:avLst>
          </a:prstGeom>
          <a:solidFill>
            <a:srgbClr val="F4FBF8"/>
          </a:solidFill>
          <a:ln w="9144">
            <a:solidFill>
              <a:srgbClr val="C6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文字 一个完整 MIX SPMD"/>
          <p:cNvSpPr txBox="1"/>
          <p:nvPr/>
        </p:nvSpPr>
        <p:spPr>
          <a:xfrm>
            <a:off x="9582912" y="3804646"/>
            <a:ext cx="1305448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一个完整 MIX SPMD</a:t>
            </a:r>
          </a:p>
        </p:txBody>
      </p:sp>
      <p:sp>
        <p:nvSpPr>
          <p:cNvPr id="93" name="文字 每组 1 AIC + 2 AIV"/>
          <p:cNvSpPr txBox="1"/>
          <p:nvPr/>
        </p:nvSpPr>
        <p:spPr>
          <a:xfrm>
            <a:off x="12837461" y="3804646"/>
            <a:ext cx="99741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18077"/>
                </a:solidFill>
                <a:latin typeface="Microsoft YaHei"/>
                <a:ea typeface="Microsoft YaHei"/>
              </a:rPr>
              <a:t>每组 1 AIC + 2 AIV</a:t>
            </a:r>
          </a:p>
        </p:txBody>
      </p:sp>
      <p:sp>
        <p:nvSpPr>
          <p:cNvPr id="94" name="文字 组 0"/>
          <p:cNvSpPr txBox="1"/>
          <p:nvPr/>
        </p:nvSpPr>
        <p:spPr>
          <a:xfrm>
            <a:off x="9582912" y="4197838"/>
            <a:ext cx="28875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5C7975"/>
                </a:solidFill>
                <a:latin typeface="Arial"/>
                <a:ea typeface="Microsoft YaHei"/>
              </a:rPr>
              <a:t>组 0</a:t>
            </a:r>
          </a:p>
        </p:txBody>
      </p:sp>
      <p:sp>
        <p:nvSpPr>
          <p:cNvPr id="95" name="形状 mini-stage"/>
          <p:cNvSpPr/>
          <p:nvPr/>
        </p:nvSpPr>
        <p:spPr>
          <a:xfrm>
            <a:off x="10186416" y="4121943"/>
            <a:ext cx="1069276" cy="283464"/>
          </a:xfrm>
          <a:prstGeom prst="roundRect">
            <a:avLst>
              <a:gd name="adj" fmla="val 16129"/>
            </a:avLst>
          </a:prstGeom>
          <a:solidFill>
            <a:srgbClr val="DCE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文字 供数 / 投影 / RMS"/>
          <p:cNvSpPr txBox="1"/>
          <p:nvPr/>
        </p:nvSpPr>
        <p:spPr>
          <a:xfrm>
            <a:off x="10259568" y="4197838"/>
            <a:ext cx="96869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2B5194"/>
                </a:solidFill>
                <a:latin typeface="Microsoft YaHei"/>
                <a:ea typeface="Microsoft YaHei"/>
              </a:rPr>
              <a:t>供数 / 投影 / RMS</a:t>
            </a:r>
          </a:p>
        </p:txBody>
      </p:sp>
      <p:sp>
        <p:nvSpPr>
          <p:cNvPr id="97" name="文字 → 同步 →"/>
          <p:cNvSpPr txBox="1"/>
          <p:nvPr/>
        </p:nvSpPr>
        <p:spPr>
          <a:xfrm>
            <a:off x="11328844" y="4202410"/>
            <a:ext cx="506063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D8D9C"/>
                </a:solidFill>
                <a:latin typeface="Microsoft YaHei"/>
                <a:ea typeface="Microsoft YaHei"/>
              </a:rPr>
              <a:t>→ 同步 →</a:t>
            </a:r>
          </a:p>
        </p:txBody>
      </p:sp>
      <p:sp>
        <p:nvSpPr>
          <p:cNvPr id="98" name="形状 mini-stage tail"/>
          <p:cNvSpPr/>
          <p:nvPr/>
        </p:nvSpPr>
        <p:spPr>
          <a:xfrm>
            <a:off x="11862339" y="4121943"/>
            <a:ext cx="727948" cy="283464"/>
          </a:xfrm>
          <a:prstGeom prst="roundRect">
            <a:avLst>
              <a:gd name="adj" fmla="val 16129"/>
            </a:avLst>
          </a:prstGeom>
          <a:solidFill>
            <a:srgbClr val="D6EE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文字 门控 / 混合"/>
          <p:cNvSpPr txBox="1"/>
          <p:nvPr/>
        </p:nvSpPr>
        <p:spPr>
          <a:xfrm>
            <a:off x="11935491" y="4197838"/>
            <a:ext cx="627364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246657"/>
                </a:solidFill>
                <a:latin typeface="Microsoft YaHei"/>
                <a:ea typeface="Microsoft YaHei"/>
              </a:rPr>
              <a:t>门控 / 混合</a:t>
            </a:r>
          </a:p>
        </p:txBody>
      </p:sp>
      <p:sp>
        <p:nvSpPr>
          <p:cNvPr id="100" name="文字 组 1"/>
          <p:cNvSpPr txBox="1"/>
          <p:nvPr/>
        </p:nvSpPr>
        <p:spPr>
          <a:xfrm>
            <a:off x="9582912" y="4572742"/>
            <a:ext cx="28875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5C7975"/>
                </a:solidFill>
                <a:latin typeface="Arial"/>
                <a:ea typeface="Microsoft YaHei"/>
              </a:rPr>
              <a:t>组 1</a:t>
            </a:r>
          </a:p>
        </p:txBody>
      </p:sp>
      <p:sp>
        <p:nvSpPr>
          <p:cNvPr id="101" name="形状 mini-stage"/>
          <p:cNvSpPr/>
          <p:nvPr/>
        </p:nvSpPr>
        <p:spPr>
          <a:xfrm>
            <a:off x="10186416" y="4496847"/>
            <a:ext cx="1069276" cy="283464"/>
          </a:xfrm>
          <a:prstGeom prst="roundRect">
            <a:avLst>
              <a:gd name="adj" fmla="val 16129"/>
            </a:avLst>
          </a:prstGeom>
          <a:solidFill>
            <a:srgbClr val="DCE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文字 供数 / 投影 / RMS"/>
          <p:cNvSpPr txBox="1"/>
          <p:nvPr/>
        </p:nvSpPr>
        <p:spPr>
          <a:xfrm>
            <a:off x="10259568" y="4572742"/>
            <a:ext cx="96869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2B5194"/>
                </a:solidFill>
                <a:latin typeface="Microsoft YaHei"/>
                <a:ea typeface="Microsoft YaHei"/>
              </a:rPr>
              <a:t>供数 / 投影 / RMS</a:t>
            </a:r>
          </a:p>
        </p:txBody>
      </p:sp>
      <p:sp>
        <p:nvSpPr>
          <p:cNvPr id="103" name="文字 → 同步 →"/>
          <p:cNvSpPr txBox="1"/>
          <p:nvPr/>
        </p:nvSpPr>
        <p:spPr>
          <a:xfrm>
            <a:off x="11328844" y="4577314"/>
            <a:ext cx="506063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D8D9C"/>
                </a:solidFill>
                <a:latin typeface="Microsoft YaHei"/>
                <a:ea typeface="Microsoft YaHei"/>
              </a:rPr>
              <a:t>→ 同步 →</a:t>
            </a:r>
          </a:p>
        </p:txBody>
      </p:sp>
      <p:sp>
        <p:nvSpPr>
          <p:cNvPr id="104" name="形状 mini-stage tail"/>
          <p:cNvSpPr/>
          <p:nvPr/>
        </p:nvSpPr>
        <p:spPr>
          <a:xfrm>
            <a:off x="11862339" y="4505991"/>
            <a:ext cx="623792" cy="265176"/>
          </a:xfrm>
          <a:prstGeom prst="roundRect">
            <a:avLst>
              <a:gd name="adj" fmla="val 17241"/>
            </a:avLst>
          </a:prstGeom>
          <a:solidFill>
            <a:srgbClr val="D6EE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文字 Sinkhorn"/>
          <p:cNvSpPr txBox="1"/>
          <p:nvPr/>
        </p:nvSpPr>
        <p:spPr>
          <a:xfrm>
            <a:off x="11935491" y="4563598"/>
            <a:ext cx="523208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246657"/>
                </a:solidFill>
                <a:latin typeface="Microsoft YaHei"/>
                <a:ea typeface="Microsoft YaHei"/>
              </a:rPr>
              <a:t>Sinkhorn</a:t>
            </a:r>
          </a:p>
        </p:txBody>
      </p:sp>
      <p:sp>
        <p:nvSpPr>
          <p:cNvPr id="106" name="文字 ⋮"/>
          <p:cNvSpPr txBox="1"/>
          <p:nvPr/>
        </p:nvSpPr>
        <p:spPr>
          <a:xfrm>
            <a:off x="11603736" y="4773910"/>
            <a:ext cx="210312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 lang="zh-CN" dirty="0">
                <a:solidFill>
                  <a:srgbClr val="8B9EAC"/>
                </a:solidFill>
                <a:latin typeface="Microsoft YaHei"/>
                <a:ea typeface="Microsoft YaHei"/>
              </a:rPr>
              <a:t>⋮</a:t>
            </a:r>
          </a:p>
        </p:txBody>
      </p:sp>
      <p:sp>
        <p:nvSpPr>
          <p:cNvPr id="107" name="文字 组 N−1"/>
          <p:cNvSpPr txBox="1"/>
          <p:nvPr/>
        </p:nvSpPr>
        <p:spPr>
          <a:xfrm>
            <a:off x="9582912" y="5121382"/>
            <a:ext cx="487775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5C7975"/>
                </a:solidFill>
                <a:latin typeface="Arial"/>
                <a:ea typeface="Microsoft YaHei"/>
              </a:rPr>
              <a:t>组 N−1</a:t>
            </a:r>
          </a:p>
        </p:txBody>
      </p:sp>
      <p:sp>
        <p:nvSpPr>
          <p:cNvPr id="108" name="形状 mini-stage"/>
          <p:cNvSpPr/>
          <p:nvPr/>
        </p:nvSpPr>
        <p:spPr>
          <a:xfrm>
            <a:off x="10186416" y="5045487"/>
            <a:ext cx="1069276" cy="283464"/>
          </a:xfrm>
          <a:prstGeom prst="roundRect">
            <a:avLst>
              <a:gd name="adj" fmla="val 16129"/>
            </a:avLst>
          </a:prstGeom>
          <a:solidFill>
            <a:srgbClr val="DCE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文字 供数 / 投影 / RMS"/>
          <p:cNvSpPr txBox="1"/>
          <p:nvPr/>
        </p:nvSpPr>
        <p:spPr>
          <a:xfrm>
            <a:off x="10259568" y="5121382"/>
            <a:ext cx="96869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2B5194"/>
                </a:solidFill>
                <a:latin typeface="Microsoft YaHei"/>
                <a:ea typeface="Microsoft YaHei"/>
              </a:rPr>
              <a:t>供数 / 投影 / RMS</a:t>
            </a:r>
          </a:p>
        </p:txBody>
      </p:sp>
      <p:sp>
        <p:nvSpPr>
          <p:cNvPr id="110" name="文字 → 同步 →"/>
          <p:cNvSpPr txBox="1"/>
          <p:nvPr/>
        </p:nvSpPr>
        <p:spPr>
          <a:xfrm>
            <a:off x="11328844" y="5125954"/>
            <a:ext cx="506063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D8D9C"/>
                </a:solidFill>
                <a:latin typeface="Microsoft YaHei"/>
                <a:ea typeface="Microsoft YaHei"/>
              </a:rPr>
              <a:t>→ 同步 →</a:t>
            </a:r>
          </a:p>
        </p:txBody>
      </p:sp>
      <p:sp>
        <p:nvSpPr>
          <p:cNvPr id="111" name="形状 mini-stage tail"/>
          <p:cNvSpPr/>
          <p:nvPr/>
        </p:nvSpPr>
        <p:spPr>
          <a:xfrm>
            <a:off x="11862339" y="5045487"/>
            <a:ext cx="740664" cy="283464"/>
          </a:xfrm>
          <a:prstGeom prst="roundRect">
            <a:avLst>
              <a:gd name="adj" fmla="val 16129"/>
            </a:avLst>
          </a:prstGeom>
          <a:solidFill>
            <a:srgbClr val="D6EE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文字 按角色执行"/>
          <p:cNvSpPr txBox="1"/>
          <p:nvPr/>
        </p:nvSpPr>
        <p:spPr>
          <a:xfrm>
            <a:off x="11935491" y="5121382"/>
            <a:ext cx="64008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246657"/>
                </a:solidFill>
                <a:latin typeface="Microsoft YaHei"/>
                <a:ea typeface="Microsoft YaHei"/>
              </a:rPr>
              <a:t>按角色执行</a:t>
            </a:r>
          </a:p>
        </p:txBody>
      </p:sp>
      <p:sp>
        <p:nvSpPr>
          <p:cNvPr id="113" name="文字 任务派发"/>
          <p:cNvSpPr txBox="1"/>
          <p:nvPr/>
        </p:nvSpPr>
        <p:spPr>
          <a:xfrm>
            <a:off x="9436608" y="5606014"/>
            <a:ext cx="630936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lang="zh-CN" dirty="0">
                <a:solidFill>
                  <a:srgbClr val="627489"/>
                </a:solidFill>
                <a:latin typeface="Microsoft YaHei"/>
                <a:ea typeface="Microsoft YaHei"/>
              </a:rPr>
              <a:t>任务派发</a:t>
            </a:r>
          </a:p>
        </p:txBody>
      </p:sp>
      <p:sp>
        <p:nvSpPr>
          <p:cNvPr id="114" name="文字 → 核内循环与分工"/>
          <p:cNvSpPr txBox="1"/>
          <p:nvPr/>
        </p:nvSpPr>
        <p:spPr>
          <a:xfrm>
            <a:off x="10059828" y="5606014"/>
            <a:ext cx="1230439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27489"/>
                </a:solidFill>
                <a:latin typeface="Microsoft YaHei"/>
                <a:ea typeface="Microsoft YaHei"/>
              </a:rPr>
              <a:t>→ 核内循环与分工</a:t>
            </a:r>
          </a:p>
        </p:txBody>
      </p:sp>
      <p:sp>
        <p:nvSpPr>
          <p:cNvPr id="115" name="文字 任务依赖边"/>
          <p:cNvSpPr txBox="1"/>
          <p:nvPr/>
        </p:nvSpPr>
        <p:spPr>
          <a:xfrm>
            <a:off x="9436608" y="5832757"/>
            <a:ext cx="777240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lang="zh-CN" dirty="0">
                <a:solidFill>
                  <a:srgbClr val="627489"/>
                </a:solidFill>
                <a:latin typeface="Microsoft YaHei"/>
                <a:ea typeface="Microsoft YaHei"/>
              </a:rPr>
              <a:t>任务依赖边</a:t>
            </a:r>
          </a:p>
        </p:txBody>
      </p:sp>
      <p:sp>
        <p:nvSpPr>
          <p:cNvPr id="116" name="文字 → 核内信号 / 屏障"/>
          <p:cNvSpPr txBox="1"/>
          <p:nvPr/>
        </p:nvSpPr>
        <p:spPr>
          <a:xfrm>
            <a:off x="10206132" y="5832757"/>
            <a:ext cx="1214723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27489"/>
                </a:solidFill>
                <a:latin typeface="Microsoft YaHei"/>
                <a:ea typeface="Microsoft YaHei"/>
              </a:rPr>
              <a:t>→ 核内信号 / 屏障</a:t>
            </a:r>
          </a:p>
        </p:txBody>
      </p:sp>
      <p:sp>
        <p:nvSpPr>
          <p:cNvPr id="117" name="文字 执行流在本次 kernel 内持续推进。"/>
          <p:cNvSpPr txBox="1"/>
          <p:nvPr/>
        </p:nvSpPr>
        <p:spPr>
          <a:xfrm>
            <a:off x="9436608" y="6059500"/>
            <a:ext cx="2289000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27489"/>
                </a:solidFill>
                <a:latin typeface="Microsoft YaHei"/>
                <a:ea typeface="Microsoft YaHei"/>
              </a:rPr>
              <a:t>执行流在本次 kernel 内持续推进。</a:t>
            </a:r>
          </a:p>
        </p:txBody>
      </p:sp>
      <p:sp>
        <p:nvSpPr>
          <p:cNvPr id="118" name="形状 line"/>
          <p:cNvSpPr/>
          <p:nvPr/>
        </p:nvSpPr>
        <p:spPr>
          <a:xfrm>
            <a:off x="475488" y="6662261"/>
            <a:ext cx="4272391" cy="9144"/>
          </a:xfrm>
          <a:prstGeom prst="rect">
            <a:avLst/>
          </a:prstGeom>
          <a:solidFill>
            <a:srgbClr val="DDC7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文字 ↶ 静态化后仍要复测；遇到负载失衡或同步放大，回到 MPMD 调整切分"/>
          <p:cNvSpPr txBox="1"/>
          <p:nvPr/>
        </p:nvSpPr>
        <p:spPr>
          <a:xfrm>
            <a:off x="4857607" y="6573564"/>
            <a:ext cx="496076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A46423"/>
                </a:solidFill>
                <a:latin typeface="Microsoft YaHei"/>
                <a:ea typeface="Microsoft YaHei"/>
              </a:rPr>
              <a:t>↶ 静态化后仍要复测；遇到负载失衡或同步放大，回到 MPMD 调整切分</a:t>
            </a:r>
          </a:p>
        </p:txBody>
      </p:sp>
      <p:sp>
        <p:nvSpPr>
          <p:cNvPr id="120" name="形状 line"/>
          <p:cNvSpPr/>
          <p:nvPr/>
        </p:nvSpPr>
        <p:spPr>
          <a:xfrm>
            <a:off x="9882378" y="6662261"/>
            <a:ext cx="4272534" cy="9144"/>
          </a:xfrm>
          <a:prstGeom prst="rect">
            <a:avLst/>
          </a:prstGeom>
          <a:solidFill>
            <a:srgbClr val="DDC7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形状 take"/>
          <p:cNvSpPr/>
          <p:nvPr/>
        </p:nvSpPr>
        <p:spPr>
          <a:xfrm>
            <a:off x="475488" y="6936581"/>
            <a:ext cx="4449984" cy="740664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75488" y="6936581"/>
            <a:ext cx="0" cy="740664"/>
          </a:xfrm>
          <a:prstGeom prst="line">
            <a:avLst/>
          </a:prstGeom>
          <a:ln w="27432">
            <a:solidFill>
              <a:srgbClr val="A8C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文字 动态阶段："/>
          <p:cNvSpPr txBox="1"/>
          <p:nvPr/>
        </p:nvSpPr>
        <p:spPr>
          <a:xfrm>
            <a:off x="667512" y="7085628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 i="0" lang="zh-CN" dirty="0">
                <a:solidFill>
                  <a:srgbClr val="244D91"/>
                </a:solidFill>
                <a:latin typeface="Microsoft YaHei"/>
                <a:ea typeface="Microsoft YaHei"/>
              </a:rPr>
              <a:t>动态阶段：</a:t>
            </a:r>
          </a:p>
        </p:txBody>
      </p:sp>
      <p:sp>
        <p:nvSpPr>
          <p:cNvPr id="124" name="文字 用可调度的任务图找出"/>
          <p:cNvSpPr txBox="1"/>
          <p:nvPr/>
        </p:nvSpPr>
        <p:spPr>
          <a:xfrm>
            <a:off x="1444752" y="7085628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用可调度的任务图找出</a:t>
            </a:r>
          </a:p>
        </p:txBody>
      </p:sp>
      <p:sp>
        <p:nvSpPr>
          <p:cNvPr id="125" name="文字 可行的均衡分工与计算 / 搬运流水。"/>
          <p:cNvSpPr txBox="1"/>
          <p:nvPr/>
        </p:nvSpPr>
        <p:spPr>
          <a:xfrm>
            <a:off x="667512" y="7318800"/>
            <a:ext cx="251631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可行的均衡分工与计算 / 搬运流水。</a:t>
            </a:r>
          </a:p>
        </p:txBody>
      </p:sp>
      <p:sp>
        <p:nvSpPr>
          <p:cNvPr id="126" name="形状 take"/>
          <p:cNvSpPr/>
          <p:nvPr/>
        </p:nvSpPr>
        <p:spPr>
          <a:xfrm>
            <a:off x="5090064" y="6936581"/>
            <a:ext cx="4450127" cy="740664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5090064" y="6936581"/>
            <a:ext cx="0" cy="740664"/>
          </a:xfrm>
          <a:prstGeom prst="line">
            <a:avLst/>
          </a:prstGeom>
          <a:ln w="27432">
            <a:solidFill>
              <a:srgbClr val="A8C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文字 蒸馏阶段："/>
          <p:cNvSpPr txBox="1"/>
          <p:nvPr/>
        </p:nvSpPr>
        <p:spPr>
          <a:xfrm>
            <a:off x="5282088" y="7085628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 i="0" lang="zh-CN" dirty="0">
                <a:solidFill>
                  <a:srgbClr val="244D91"/>
                </a:solidFill>
                <a:latin typeface="Microsoft YaHei"/>
                <a:ea typeface="Microsoft YaHei"/>
              </a:rPr>
              <a:t>蒸馏阶段：</a:t>
            </a:r>
          </a:p>
        </p:txBody>
      </p:sp>
      <p:sp>
        <p:nvSpPr>
          <p:cNvPr id="129" name="文字 把稳定的执行结构编译进去，"/>
          <p:cNvSpPr txBox="1"/>
          <p:nvPr/>
        </p:nvSpPr>
        <p:spPr>
          <a:xfrm>
            <a:off x="6059328" y="7085628"/>
            <a:ext cx="2066543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把稳定的执行结构编译进去，</a:t>
            </a:r>
          </a:p>
        </p:txBody>
      </p:sp>
      <p:sp>
        <p:nvSpPr>
          <p:cNvPr id="130" name="文字 减少反复派发和任务交接。"/>
          <p:cNvSpPr txBox="1"/>
          <p:nvPr/>
        </p:nvSpPr>
        <p:spPr>
          <a:xfrm>
            <a:off x="5282088" y="7318800"/>
            <a:ext cx="1911095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减少反复派发和任务交接。</a:t>
            </a:r>
          </a:p>
        </p:txBody>
      </p:sp>
      <p:sp>
        <p:nvSpPr>
          <p:cNvPr id="131" name="形状 take"/>
          <p:cNvSpPr/>
          <p:nvPr/>
        </p:nvSpPr>
        <p:spPr>
          <a:xfrm>
            <a:off x="9704784" y="6936581"/>
            <a:ext cx="4449984" cy="740664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9704784" y="6936581"/>
            <a:ext cx="0" cy="740664"/>
          </a:xfrm>
          <a:prstGeom prst="line">
            <a:avLst/>
          </a:prstGeom>
          <a:ln w="27432">
            <a:solidFill>
              <a:srgbClr val="A8C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文字 部署阶段："/>
          <p:cNvSpPr txBox="1"/>
          <p:nvPr/>
        </p:nvSpPr>
        <p:spPr>
          <a:xfrm>
            <a:off x="9896808" y="7085628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 i="0" lang="zh-CN" dirty="0">
                <a:solidFill>
                  <a:srgbClr val="244D91"/>
                </a:solidFill>
                <a:latin typeface="Microsoft YaHei"/>
                <a:ea typeface="Microsoft YaHei"/>
              </a:rPr>
              <a:t>部署阶段：</a:t>
            </a:r>
          </a:p>
        </p:txBody>
      </p:sp>
      <p:sp>
        <p:nvSpPr>
          <p:cNvPr id="134" name="文字 执行图收敛到独立核之后，"/>
          <p:cNvSpPr txBox="1"/>
          <p:nvPr/>
        </p:nvSpPr>
        <p:spPr>
          <a:xfrm>
            <a:off x="10674048" y="7085628"/>
            <a:ext cx="1911095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执行图收敛到独立核之后，</a:t>
            </a:r>
          </a:p>
        </p:txBody>
      </p:sp>
      <p:sp>
        <p:nvSpPr>
          <p:cNvPr id="135" name="文字 才进入本例的单 kernel ACLNN 路线。"/>
          <p:cNvSpPr txBox="1"/>
          <p:nvPr/>
        </p:nvSpPr>
        <p:spPr>
          <a:xfrm>
            <a:off x="9896808" y="7318800"/>
            <a:ext cx="2648473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才进入本例的单 kernel ACLNN 路线。</a:t>
            </a:r>
          </a:p>
        </p:txBody>
      </p:sp>
      <p:sp>
        <p:nvSpPr>
          <p:cNvPr id="136" name="形状 "/>
          <p:cNvSpPr/>
          <p:nvPr/>
        </p:nvSpPr>
        <p:spPr>
          <a:xfrm>
            <a:off x="475488" y="7772400"/>
            <a:ext cx="13679424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475488" y="7772400"/>
            <a:ext cx="13679424" cy="0"/>
          </a:xfrm>
          <a:prstGeom prst="line">
            <a:avLst/>
          </a:prstGeom>
          <a:ln w="9144">
            <a:solidFill>
              <a:srgbClr val="DC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文字 “蒸馏”指本方案的工程改写与验证流程，并非已经存在的一键自动转换功能；均衡分工不要求每个核执行相同角色。"/>
          <p:cNvSpPr txBox="1"/>
          <p:nvPr/>
        </p:nvSpPr>
        <p:spPr>
          <a:xfrm>
            <a:off x="475488" y="7894015"/>
            <a:ext cx="5611844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A889A"/>
                </a:solidFill>
                <a:latin typeface="Microsoft YaHei"/>
                <a:ea typeface="Microsoft YaHei"/>
              </a:rPr>
              <a:t>“蒸馏”指本方案的工程改写与验证流程，并非已经存在的一键自动转换功能；均衡分工不要求每个核执行相同角色。</a:t>
            </a:r>
          </a:p>
        </p:txBody>
      </p:sp>
      <p:sp>
        <p:nvSpPr>
          <p:cNvPr id="139" name="文字 来源见备注"/>
          <p:cNvSpPr txBox="1"/>
          <p:nvPr/>
        </p:nvSpPr>
        <p:spPr>
          <a:xfrm>
            <a:off x="12411551" y="7903159"/>
            <a:ext cx="688800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536D94"/>
                </a:solidFill>
                <a:latin typeface="Microsoft YaHei"/>
                <a:ea typeface="Microsoft YaHei"/>
              </a:rPr>
              <a:t>来源见备注</a:t>
            </a:r>
          </a:p>
        </p:txBody>
      </p:sp>
      <p:sp>
        <p:nvSpPr>
          <p:cNvPr id="140" name="文字 下一页 →">
            <a:hlinkClick action="ppaction://hlinksldjump" r:id="rId2"/>
          </p:cNvPr>
          <p:cNvSpPr txBox="1"/>
          <p:nvPr/>
        </p:nvSpPr>
        <p:spPr>
          <a:xfrm>
            <a:off x="13210079" y="7903159"/>
            <a:ext cx="495347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536D94"/>
                </a:solidFill>
                <a:latin typeface="Microsoft YaHei"/>
                <a:ea typeface="Microsoft YaHei"/>
              </a:rPr>
              <a:t>下一页 →</a:t>
            </a:r>
          </a:p>
        </p:txBody>
      </p:sp>
      <p:sp>
        <p:nvSpPr>
          <p:cNvPr id="141" name="文字 01 / 04"/>
          <p:cNvSpPr txBox="1"/>
          <p:nvPr/>
        </p:nvSpPr>
        <p:spPr>
          <a:xfrm>
            <a:off x="13815155" y="7894015"/>
            <a:ext cx="38547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A889A"/>
                </a:solidFill>
                <a:latin typeface="Microsoft YaHei"/>
                <a:ea typeface="Microsoft YaHei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单 SPMD 独立交付，ACLNN 调用并接入 SuperKernel"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形状 顶部色条"/>
          <p:cNvSpPr/>
          <p:nvPr/>
        </p:nvSpPr>
        <p:spPr>
          <a:xfrm>
            <a:off x="0" y="0"/>
            <a:ext cx="9363456" cy="54864"/>
          </a:xfrm>
          <a:prstGeom prst="rect">
            <a:avLst/>
          </a:prstGeom>
          <a:solidFill>
            <a:srgbClr val="245B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形状 顶部色条"/>
          <p:cNvSpPr/>
          <p:nvPr/>
        </p:nvSpPr>
        <p:spPr>
          <a:xfrm>
            <a:off x="9363456" y="0"/>
            <a:ext cx="5266944" cy="54864"/>
          </a:xfrm>
          <a:prstGeom prst="rect">
            <a:avLst/>
          </a:prstGeom>
          <a:solidFill>
            <a:srgbClr val="0879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文字 HC_pre"/>
          <p:cNvSpPr txBox="1"/>
          <p:nvPr/>
        </p:nvSpPr>
        <p:spPr>
          <a:xfrm>
            <a:off x="475488" y="304495"/>
            <a:ext cx="5775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dirty="0" spc="86">
                <a:solidFill>
                  <a:srgbClr val="245BD6"/>
                </a:solidFill>
                <a:latin typeface="Microsoft YaHei"/>
                <a:ea typeface="Microsoft YaHei"/>
              </a:rPr>
              <a:t>HC_pre</a:t>
            </a:r>
          </a:p>
        </p:txBody>
      </p:sp>
      <p:sp>
        <p:nvSpPr>
          <p:cNvPr id="5" name="文字 /"/>
          <p:cNvSpPr txBox="1"/>
          <p:nvPr/>
        </p:nvSpPr>
        <p:spPr>
          <a:xfrm>
            <a:off x="1126140" y="304495"/>
            <a:ext cx="10615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 spc="72">
                <a:solidFill>
                  <a:srgbClr val="B5C3D4"/>
                </a:solidFill>
                <a:latin typeface="Microsoft YaHei"/>
                <a:ea typeface="Microsoft YaHei"/>
              </a:rPr>
              <a:t>/</a:t>
            </a:r>
          </a:p>
        </p:txBody>
      </p:sp>
      <p:sp>
        <p:nvSpPr>
          <p:cNvPr id="6" name="文字 单核部署与融合接入"/>
          <p:cNvSpPr txBox="1"/>
          <p:nvPr/>
        </p:nvSpPr>
        <p:spPr>
          <a:xfrm>
            <a:off x="1305448" y="304495"/>
            <a:ext cx="136245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 spc="72">
                <a:solidFill>
                  <a:srgbClr val="607286"/>
                </a:solidFill>
                <a:latin typeface="Microsoft YaHei"/>
                <a:ea typeface="Microsoft YaHei"/>
              </a:rPr>
              <a:t>单核部署与融合接入</a:t>
            </a:r>
          </a:p>
        </p:txBody>
      </p:sp>
      <p:sp>
        <p:nvSpPr>
          <p:cNvPr id="7" name="文字 01 均衡与蒸馏"/>
          <p:cNvSpPr txBox="1"/>
          <p:nvPr/>
        </p:nvSpPr>
        <p:spPr>
          <a:xfrm>
            <a:off x="9842801" y="318211"/>
            <a:ext cx="80195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01 均衡与蒸馏</a:t>
            </a:r>
          </a:p>
        </p:txBody>
      </p:sp>
      <p:sp>
        <p:nvSpPr>
          <p:cNvPr id="8" name="文字 02 ACLNN 与 SuperKernel"/>
          <p:cNvSpPr txBox="1"/>
          <p:nvPr/>
        </p:nvSpPr>
        <p:spPr>
          <a:xfrm>
            <a:off x="10745343" y="318211"/>
            <a:ext cx="149547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245BD6"/>
                </a:solidFill>
                <a:latin typeface="Microsoft YaHei"/>
                <a:ea typeface="Microsoft YaHei"/>
              </a:rPr>
              <a:t>02 ACLNN 与 SuperKernel</a:t>
            </a:r>
          </a:p>
        </p:txBody>
      </p:sp>
      <p:sp>
        <p:nvSpPr>
          <p:cNvPr id="9" name="文字 03 动态负载权衡"/>
          <p:cNvSpPr txBox="1"/>
          <p:nvPr/>
        </p:nvSpPr>
        <p:spPr>
          <a:xfrm>
            <a:off x="12341399" y="318211"/>
            <a:ext cx="92082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03 动态负载权衡</a:t>
            </a:r>
          </a:p>
        </p:txBody>
      </p:sp>
      <p:sp>
        <p:nvSpPr>
          <p:cNvPr id="10" name="文字 04 L1 实测证据"/>
          <p:cNvSpPr txBox="1"/>
          <p:nvPr/>
        </p:nvSpPr>
        <p:spPr>
          <a:xfrm>
            <a:off x="13362813" y="318211"/>
            <a:ext cx="83781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04 L1 实测证据</a:t>
            </a:r>
          </a:p>
        </p:txBody>
      </p:sp>
      <p:sp>
        <p:nvSpPr>
          <p:cNvPr id="11" name="标题 单 SPMD 独立交付，"/>
          <p:cNvSpPr txBox="1"/>
          <p:nvPr/>
        </p:nvSpPr>
        <p:spPr>
          <a:xfrm>
            <a:off x="475488" y="651967"/>
            <a:ext cx="3490436" cy="466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 lang="zh-CN" dirty="0" spc="-72">
                <a:solidFill>
                  <a:srgbClr val="142C45"/>
                </a:solidFill>
                <a:latin typeface="Microsoft YaHei"/>
                <a:ea typeface="Microsoft YaHei"/>
              </a:rPr>
              <a:t>单 SPMD 独立交付，</a:t>
            </a:r>
          </a:p>
        </p:txBody>
      </p:sp>
      <p:sp>
        <p:nvSpPr>
          <p:cNvPr id="12" name="标题 ACLNN 调用并接入 SuperKernel"/>
          <p:cNvSpPr txBox="1"/>
          <p:nvPr/>
        </p:nvSpPr>
        <p:spPr>
          <a:xfrm>
            <a:off x="3920204" y="651967"/>
            <a:ext cx="5532691" cy="466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 lang="zh-CN" dirty="0" spc="-72">
                <a:solidFill>
                  <a:srgbClr val="245BD6"/>
                </a:solidFill>
                <a:latin typeface="Microsoft YaHei"/>
                <a:ea typeface="Microsoft YaHei"/>
              </a:rPr>
              <a:t>ACLNN 调用并接入 SuperKernel</a:t>
            </a:r>
          </a:p>
        </p:txBody>
      </p:sp>
      <p:sp>
        <p:nvSpPr>
          <p:cNvPr id="13" name="文字 在本例“无额外任务运行时、一次启动一个 MIX kernel”的路线中，必须先让"/>
          <p:cNvSpPr txBox="1"/>
          <p:nvPr/>
        </p:nvSpPr>
        <p:spPr>
          <a:xfrm>
            <a:off x="475488" y="1242612"/>
            <a:ext cx="6046755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在本例“无额外任务运行时、一次启动一个 MIX kernel”的路线中，必须先让</a:t>
            </a:r>
          </a:p>
        </p:txBody>
      </p:sp>
      <p:sp>
        <p:nvSpPr>
          <p:cNvPr id="14" name="文字 计算、分工、缓冲与同步全部闭合"/>
          <p:cNvSpPr txBox="1"/>
          <p:nvPr/>
        </p:nvSpPr>
        <p:spPr>
          <a:xfrm>
            <a:off x="6524101" y="1242612"/>
            <a:ext cx="278892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计算、分工、缓冲与同步全部闭合</a:t>
            </a:r>
          </a:p>
        </p:txBody>
      </p:sp>
      <p:sp>
        <p:nvSpPr>
          <p:cNvPr id="15" name="文字 。"/>
          <p:cNvSpPr txBox="1"/>
          <p:nvPr/>
        </p:nvSpPr>
        <p:spPr>
          <a:xfrm>
            <a:off x="9267301" y="1242612"/>
            <a:ext cx="2286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6" name="标题 从 PyPTO 到 ACLNN"/>
          <p:cNvSpPr txBox="1"/>
          <p:nvPr/>
        </p:nvSpPr>
        <p:spPr>
          <a:xfrm>
            <a:off x="475488" y="1708956"/>
            <a:ext cx="1890236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从 PyPTO 到 ACLNN</a:t>
            </a:r>
          </a:p>
        </p:txBody>
      </p:sp>
      <p:sp>
        <p:nvSpPr>
          <p:cNvPr id="17" name="形状 badge"/>
          <p:cNvSpPr/>
          <p:nvPr/>
        </p:nvSpPr>
        <p:spPr>
          <a:xfrm>
            <a:off x="2411444" y="1701641"/>
            <a:ext cx="603504" cy="237744"/>
          </a:xfrm>
          <a:prstGeom prst="roundRect">
            <a:avLst>
              <a:gd name="adj" fmla="val 19230"/>
            </a:avLst>
          </a:prstGeom>
          <a:solidFill>
            <a:srgbClr val="E6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文字 已有实现"/>
          <p:cNvSpPr txBox="1"/>
          <p:nvPr/>
        </p:nvSpPr>
        <p:spPr>
          <a:xfrm>
            <a:off x="2493740" y="1759248"/>
            <a:ext cx="48463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 lang="zh-CN" dirty="0">
                <a:solidFill>
                  <a:srgbClr val="147568"/>
                </a:solidFill>
                <a:latin typeface="Microsoft YaHei"/>
                <a:ea typeface="Microsoft YaHei"/>
              </a:rPr>
              <a:t>已有实现</a:t>
            </a:r>
          </a:p>
        </p:txBody>
      </p:sp>
      <p:sp>
        <p:nvSpPr>
          <p:cNvPr id="19" name="文字 每次按 T 选一个分档；主机只负责参数与启动"/>
          <p:cNvSpPr txBox="1"/>
          <p:nvPr/>
        </p:nvSpPr>
        <p:spPr>
          <a:xfrm>
            <a:off x="11589591" y="1745532"/>
            <a:ext cx="261104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每次按 T 选一个分档；主机只负责参数与启动</a:t>
            </a:r>
          </a:p>
        </p:txBody>
      </p:sp>
      <p:sp>
        <p:nvSpPr>
          <p:cNvPr id="20" name="形状 card blue"/>
          <p:cNvSpPr/>
          <p:nvPr/>
        </p:nvSpPr>
        <p:spPr>
          <a:xfrm>
            <a:off x="475488" y="2071973"/>
            <a:ext cx="3031378" cy="1298448"/>
          </a:xfrm>
          <a:prstGeom prst="roundRect">
            <a:avLst>
              <a:gd name="adj" fmla="val 7042"/>
            </a:avLst>
          </a:prstGeom>
          <a:solidFill>
            <a:srgbClr val="EDF3FF"/>
          </a:solidFill>
          <a:ln w="9144">
            <a:solidFill>
              <a:srgbClr val="BBCFF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标题 单 SPMD → PTO C++"/>
          <p:cNvSpPr txBox="1"/>
          <p:nvPr/>
        </p:nvSpPr>
        <p:spPr>
          <a:xfrm>
            <a:off x="658368" y="2239308"/>
            <a:ext cx="1817084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单 SPMD → PTO C++</a:t>
            </a:r>
          </a:p>
        </p:txBody>
      </p:sp>
      <p:sp>
        <p:nvSpPr>
          <p:cNvPr id="22" name="文字 hc_pre.py 经 PyPTO / PTOAS"/>
          <p:cNvSpPr txBox="1"/>
          <p:nvPr/>
        </p:nvSpPr>
        <p:spPr>
          <a:xfrm>
            <a:off x="658368" y="2589495"/>
            <a:ext cx="1879663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hc_pre.py 经 PyPTO / PTOAS</a:t>
            </a:r>
          </a:p>
        </p:txBody>
      </p:sp>
      <p:sp>
        <p:nvSpPr>
          <p:cNvPr id="23" name="文字 导出成对的 AIC / AIV 函数"/>
          <p:cNvSpPr txBox="1"/>
          <p:nvPr/>
        </p:nvSpPr>
        <p:spPr>
          <a:xfrm>
            <a:off x="658368" y="2816237"/>
            <a:ext cx="172335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导出成对的 AIC / AIV 函数</a:t>
            </a:r>
          </a:p>
        </p:txBody>
      </p:sp>
      <p:sp>
        <p:nvSpPr>
          <p:cNvPr id="24" name="文字 设备内保留 C/V 流水与同步"/>
          <p:cNvSpPr txBox="1"/>
          <p:nvPr/>
        </p:nvSpPr>
        <p:spPr>
          <a:xfrm>
            <a:off x="658368" y="3042980"/>
            <a:ext cx="1827657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设备内保留 C/V 流水与同步</a:t>
            </a:r>
          </a:p>
        </p:txBody>
      </p:sp>
      <p:sp>
        <p:nvSpPr>
          <p:cNvPr id="25" name="文字 →"/>
          <p:cNvSpPr txBox="1"/>
          <p:nvPr/>
        </p:nvSpPr>
        <p:spPr>
          <a:xfrm>
            <a:off x="3528298" y="2554776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26" name="形状 card"/>
          <p:cNvSpPr/>
          <p:nvPr/>
        </p:nvSpPr>
        <p:spPr>
          <a:xfrm>
            <a:off x="3772042" y="2071973"/>
            <a:ext cx="3031521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144">
            <a:solidFill>
              <a:srgbClr val="D5E0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标题 CANN Host + MIX 外壳"/>
          <p:cNvSpPr txBox="1"/>
          <p:nvPr/>
        </p:nvSpPr>
        <p:spPr>
          <a:xfrm>
            <a:off x="3954922" y="2239308"/>
            <a:ext cx="2079688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CANN Host + MIX 外壳</a:t>
            </a:r>
          </a:p>
        </p:txBody>
      </p:sp>
      <p:sp>
        <p:nvSpPr>
          <p:cNvPr id="28" name="文字 Host：选档、Tiling、workspace"/>
          <p:cNvSpPr txBox="1"/>
          <p:nvPr/>
        </p:nvSpPr>
        <p:spPr>
          <a:xfrm>
            <a:off x="3954922" y="2589495"/>
            <a:ext cx="2131266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Host：选档、Tiling、workspace</a:t>
            </a:r>
          </a:p>
        </p:txBody>
      </p:sp>
      <p:sp>
        <p:nvSpPr>
          <p:cNvPr id="29" name="文字 Kernel：参数对齐、分配 FIFO"/>
          <p:cNvSpPr txBox="1"/>
          <p:nvPr/>
        </p:nvSpPr>
        <p:spPr>
          <a:xfrm>
            <a:off x="3954922" y="2816237"/>
            <a:ext cx="197981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Kernel：参数对齐、分配 FIFO</a:t>
            </a:r>
          </a:p>
        </p:txBody>
      </p:sp>
      <p:sp>
        <p:nvSpPr>
          <p:cNvPr id="30" name="文字 调用选中分档的生成函数"/>
          <p:cNvSpPr txBox="1"/>
          <p:nvPr/>
        </p:nvSpPr>
        <p:spPr>
          <a:xfrm>
            <a:off x="3954922" y="3042980"/>
            <a:ext cx="1655064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调用选中分档的生成函数</a:t>
            </a:r>
          </a:p>
        </p:txBody>
      </p:sp>
      <p:sp>
        <p:nvSpPr>
          <p:cNvPr id="31" name="文字 →"/>
          <p:cNvSpPr txBox="1"/>
          <p:nvPr/>
        </p:nvSpPr>
        <p:spPr>
          <a:xfrm>
            <a:off x="6824995" y="2554776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32" name="形状 card"/>
          <p:cNvSpPr/>
          <p:nvPr/>
        </p:nvSpPr>
        <p:spPr>
          <a:xfrm>
            <a:off x="7068740" y="2071973"/>
            <a:ext cx="3031521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144">
            <a:solidFill>
              <a:srgbClr val="D5E0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标题 CANN 编译、安装 OPP"/>
          <p:cNvSpPr txBox="1"/>
          <p:nvPr/>
        </p:nvSpPr>
        <p:spPr>
          <a:xfrm>
            <a:off x="7251620" y="2239308"/>
            <a:ext cx="2028539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CANN 编译、安装 OPP</a:t>
            </a:r>
          </a:p>
        </p:txBody>
      </p:sp>
      <p:sp>
        <p:nvSpPr>
          <p:cNvPr id="34" name="文字 CCEC + PTO-ISA 头文件"/>
          <p:cNvSpPr txBox="1"/>
          <p:nvPr/>
        </p:nvSpPr>
        <p:spPr>
          <a:xfrm>
            <a:off x="7251620" y="2589495"/>
            <a:ext cx="1544193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CCEC + PTO-ISA 头文件</a:t>
            </a:r>
          </a:p>
        </p:txBody>
      </p:sp>
      <p:sp>
        <p:nvSpPr>
          <p:cNvPr id="35" name="文字 生成 ACLNN 库与设备二进制"/>
          <p:cNvSpPr txBox="1"/>
          <p:nvPr/>
        </p:nvSpPr>
        <p:spPr>
          <a:xfrm>
            <a:off x="7251620" y="2816237"/>
            <a:ext cx="1899380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生成 ACLNN 库与设备二进制</a:t>
            </a:r>
          </a:p>
        </p:txBody>
      </p:sp>
      <p:sp>
        <p:nvSpPr>
          <p:cNvPr id="36" name="文字 交付标准自定义算子包"/>
          <p:cNvSpPr txBox="1"/>
          <p:nvPr/>
        </p:nvSpPr>
        <p:spPr>
          <a:xfrm>
            <a:off x="7251620" y="3042980"/>
            <a:ext cx="1508760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交付标准自定义算子包</a:t>
            </a:r>
          </a:p>
        </p:txBody>
      </p:sp>
      <p:sp>
        <p:nvSpPr>
          <p:cNvPr id="37" name="文字 →"/>
          <p:cNvSpPr txBox="1"/>
          <p:nvPr/>
        </p:nvSpPr>
        <p:spPr>
          <a:xfrm>
            <a:off x="10121693" y="2554776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38" name="形状 card green"/>
          <p:cNvSpPr/>
          <p:nvPr/>
        </p:nvSpPr>
        <p:spPr>
          <a:xfrm>
            <a:off x="10365438" y="2071973"/>
            <a:ext cx="3789473" cy="1298448"/>
          </a:xfrm>
          <a:prstGeom prst="roundRect">
            <a:avLst>
              <a:gd name="adj" fmla="val 7042"/>
            </a:avLst>
          </a:prstGeom>
          <a:solidFill>
            <a:srgbClr val="EDF8F4"/>
          </a:solidFill>
          <a:ln w="9144">
            <a:solidFill>
              <a:srgbClr val="B4DA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标题 ACLNN 两段式调用"/>
          <p:cNvSpPr txBox="1"/>
          <p:nvPr/>
        </p:nvSpPr>
        <p:spPr>
          <a:xfrm>
            <a:off x="10548318" y="2239308"/>
            <a:ext cx="1704641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ACLNN 两段式调用</a:t>
            </a:r>
          </a:p>
        </p:txBody>
      </p:sp>
      <p:sp>
        <p:nvSpPr>
          <p:cNvPr id="40" name="文字 GetWorkspaceSize → 分配工作区"/>
          <p:cNvSpPr txBox="1"/>
          <p:nvPr/>
        </p:nvSpPr>
        <p:spPr>
          <a:xfrm>
            <a:off x="10548318" y="2589495"/>
            <a:ext cx="2178415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GetWorkspaceSize → 分配工作区</a:t>
            </a:r>
          </a:p>
        </p:txBody>
      </p:sp>
      <p:sp>
        <p:nvSpPr>
          <p:cNvPr id="41" name="文字 aclnnHcPrePto → 提交到 stream"/>
          <p:cNvSpPr txBox="1"/>
          <p:nvPr/>
        </p:nvSpPr>
        <p:spPr>
          <a:xfrm>
            <a:off x="10548318" y="2816237"/>
            <a:ext cx="2147411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aclnnHcPrePto → 提交到 stream</a:t>
            </a:r>
          </a:p>
        </p:txBody>
      </p:sp>
      <p:sp>
        <p:nvSpPr>
          <p:cNvPr id="42" name="文字 输出 mixed / post / comb"/>
          <p:cNvSpPr txBox="1"/>
          <p:nvPr/>
        </p:nvSpPr>
        <p:spPr>
          <a:xfrm>
            <a:off x="10548318" y="3042980"/>
            <a:ext cx="1780794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输出 mixed / post / comb</a:t>
            </a:r>
          </a:p>
        </p:txBody>
      </p:sp>
      <p:sp>
        <p:nvSpPr>
          <p:cNvPr id="43" name="形状 runtime-strip"/>
          <p:cNvSpPr/>
          <p:nvPr/>
        </p:nvSpPr>
        <p:spPr>
          <a:xfrm>
            <a:off x="475488" y="3471005"/>
            <a:ext cx="13679424" cy="365760"/>
          </a:xfrm>
          <a:prstGeom prst="roundRect">
            <a:avLst>
              <a:gd name="adj" fmla="val 17500"/>
            </a:avLst>
          </a:prstGeom>
          <a:solidFill>
            <a:srgbClr val="EDF4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文字 部署执行不依赖 PyPTO / PTOAS / Simpler"/>
          <p:cNvSpPr txBox="1"/>
          <p:nvPr/>
        </p:nvSpPr>
        <p:spPr>
          <a:xfrm>
            <a:off x="621792" y="3574332"/>
            <a:ext cx="263418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dirty="0">
                <a:solidFill>
                  <a:srgbClr val="176759"/>
                </a:solidFill>
                <a:latin typeface="Microsoft YaHei"/>
                <a:ea typeface="Microsoft YaHei"/>
              </a:rPr>
              <a:t>部署执行不依赖 PyPTO / PTOAS / Simpler</a:t>
            </a:r>
          </a:p>
        </p:txBody>
      </p:sp>
      <p:sp>
        <p:nvSpPr>
          <p:cNvPr id="45" name="文字 单 SPMD 是本路线的收敛目标；ACLNN 接口本身也可封装多 kernel"/>
          <p:cNvSpPr txBox="1"/>
          <p:nvPr/>
        </p:nvSpPr>
        <p:spPr>
          <a:xfrm>
            <a:off x="9941528" y="3574332"/>
            <a:ext cx="4112799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387364"/>
                </a:solidFill>
                <a:latin typeface="Microsoft YaHei"/>
                <a:ea typeface="Microsoft YaHei"/>
              </a:rPr>
              <a:t>单 SPMD 是本路线的收敛目标；ACLNN 接口本身也可封装多 kernel</a:t>
            </a:r>
          </a:p>
        </p:txBody>
      </p:sp>
      <p:sp>
        <p:nvSpPr>
          <p:cNvPr id="46" name="形状 sk-wrap"/>
          <p:cNvSpPr/>
          <p:nvPr/>
        </p:nvSpPr>
        <p:spPr>
          <a:xfrm>
            <a:off x="475488" y="4019645"/>
            <a:ext cx="13679424" cy="3594877"/>
          </a:xfrm>
          <a:prstGeom prst="roundRect">
            <a:avLst>
              <a:gd name="adj" fmla="val 3052"/>
            </a:avLst>
          </a:prstGeom>
          <a:solidFill>
            <a:srgbClr val="FFFFFF"/>
          </a:solidFill>
          <a:ln w="9144">
            <a:solidFill>
              <a:srgbClr val="D2DF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标题 SuperKernel：已跑通的三节点融合"/>
          <p:cNvSpPr txBox="1"/>
          <p:nvPr/>
        </p:nvSpPr>
        <p:spPr>
          <a:xfrm>
            <a:off x="676656" y="4205268"/>
            <a:ext cx="3543014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SuperKernel：已跑通的三节点融合</a:t>
            </a:r>
          </a:p>
        </p:txBody>
      </p:sp>
      <p:sp>
        <p:nvSpPr>
          <p:cNvPr id="48" name="形状 badge"/>
          <p:cNvSpPr/>
          <p:nvPr/>
        </p:nvSpPr>
        <p:spPr>
          <a:xfrm>
            <a:off x="4283678" y="4207097"/>
            <a:ext cx="1032557" cy="237744"/>
          </a:xfrm>
          <a:prstGeom prst="roundRect">
            <a:avLst>
              <a:gd name="adj" fmla="val 19230"/>
            </a:avLst>
          </a:prstGeom>
          <a:solidFill>
            <a:srgbClr val="E6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文字 T96 功能验证通过"/>
          <p:cNvSpPr txBox="1"/>
          <p:nvPr/>
        </p:nvSpPr>
        <p:spPr>
          <a:xfrm>
            <a:off x="4365974" y="4264704"/>
            <a:ext cx="913685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 lang="zh-CN" dirty="0">
                <a:solidFill>
                  <a:srgbClr val="147568"/>
                </a:solidFill>
                <a:latin typeface="Microsoft YaHei"/>
                <a:ea typeface="Microsoft YaHei"/>
              </a:rPr>
              <a:t>T96 功能验证通过</a:t>
            </a:r>
          </a:p>
        </p:txBody>
      </p:sp>
      <p:sp>
        <p:nvSpPr>
          <p:cNvPr id="50" name="文字 PR #2 / #3 ↗"/>
          <p:cNvSpPr txBox="1"/>
          <p:nvPr/>
        </p:nvSpPr>
        <p:spPr>
          <a:xfrm>
            <a:off x="13156787" y="4237272"/>
            <a:ext cx="84267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 u="none">
                <a:solidFill>
                  <a:srgbClr val="245BD6"/>
                </a:solidFill>
                <a:latin typeface="Microsoft YaHei"/>
                <a:ea typeface="Microsoft YaHei"/>
                <a:hlinkClick r:id="rId2"/>
              </a:rPr>
              <a:t>PR #2 / #3 ↗</a:t>
            </a:r>
          </a:p>
        </p:txBody>
      </p:sp>
      <p:sp>
        <p:nvSpPr>
          <p:cNvPr id="51" name="形状 node"/>
          <p:cNvSpPr/>
          <p:nvPr/>
        </p:nvSpPr>
        <p:spPr>
          <a:xfrm>
            <a:off x="3392995" y="4623149"/>
            <a:ext cx="1250299" cy="393192"/>
          </a:xfrm>
          <a:prstGeom prst="roundRect">
            <a:avLst>
              <a:gd name="adj" fmla="val 16279"/>
            </a:avLst>
          </a:prstGeom>
          <a:solidFill>
            <a:srgbClr val="E8F0FD"/>
          </a:solidFill>
          <a:ln w="9144">
            <a:solidFill>
              <a:srgbClr val="C9D9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文字 Add"/>
          <p:cNvSpPr txBox="1"/>
          <p:nvPr/>
        </p:nvSpPr>
        <p:spPr>
          <a:xfrm>
            <a:off x="3603307" y="4717332"/>
            <a:ext cx="352901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Add</a:t>
            </a:r>
          </a:p>
        </p:txBody>
      </p:sp>
      <p:sp>
        <p:nvSpPr>
          <p:cNvPr id="53" name="文字 Ascend C"/>
          <p:cNvSpPr txBox="1"/>
          <p:nvPr/>
        </p:nvSpPr>
        <p:spPr>
          <a:xfrm>
            <a:off x="3983640" y="4772196"/>
            <a:ext cx="495061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647C94"/>
                </a:solidFill>
                <a:latin typeface="Microsoft YaHei"/>
                <a:ea typeface="Microsoft YaHei"/>
              </a:rPr>
              <a:t>Ascend C</a:t>
            </a:r>
          </a:p>
        </p:txBody>
      </p:sp>
      <p:sp>
        <p:nvSpPr>
          <p:cNvPr id="54" name="文字 →"/>
          <p:cNvSpPr txBox="1"/>
          <p:nvPr/>
        </p:nvSpPr>
        <p:spPr>
          <a:xfrm>
            <a:off x="4762166" y="4653324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5" name="形状 node core"/>
          <p:cNvSpPr/>
          <p:nvPr/>
        </p:nvSpPr>
        <p:spPr>
          <a:xfrm>
            <a:off x="5103352" y="4623149"/>
            <a:ext cx="1714357" cy="393192"/>
          </a:xfrm>
          <a:prstGeom prst="roundRect">
            <a:avLst>
              <a:gd name="adj" fmla="val 16279"/>
            </a:avLst>
          </a:prstGeom>
          <a:solidFill>
            <a:srgbClr val="DEF3E9"/>
          </a:solidFill>
          <a:ln w="9144">
            <a:solidFill>
              <a:srgbClr val="A9D5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文字 HC_pre"/>
          <p:cNvSpPr txBox="1"/>
          <p:nvPr/>
        </p:nvSpPr>
        <p:spPr>
          <a:xfrm>
            <a:off x="5313664" y="4717332"/>
            <a:ext cx="604789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634F"/>
                </a:solidFill>
                <a:latin typeface="Microsoft YaHei"/>
                <a:ea typeface="Microsoft YaHei"/>
              </a:rPr>
              <a:t>HC_pre</a:t>
            </a:r>
          </a:p>
        </p:txBody>
      </p:sp>
      <p:sp>
        <p:nvSpPr>
          <p:cNvPr id="57" name="文字 PTO + ACLNN"/>
          <p:cNvSpPr txBox="1"/>
          <p:nvPr/>
        </p:nvSpPr>
        <p:spPr>
          <a:xfrm>
            <a:off x="5945886" y="4772196"/>
            <a:ext cx="707231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647C94"/>
                </a:solidFill>
                <a:latin typeface="Microsoft YaHei"/>
                <a:ea typeface="Microsoft YaHei"/>
              </a:rPr>
              <a:t>PTO + ACLNN</a:t>
            </a:r>
          </a:p>
        </p:txBody>
      </p:sp>
      <p:sp>
        <p:nvSpPr>
          <p:cNvPr id="58" name="文字 →"/>
          <p:cNvSpPr txBox="1"/>
          <p:nvPr/>
        </p:nvSpPr>
        <p:spPr>
          <a:xfrm>
            <a:off x="6936581" y="4653324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9" name="形状 node"/>
          <p:cNvSpPr/>
          <p:nvPr/>
        </p:nvSpPr>
        <p:spPr>
          <a:xfrm>
            <a:off x="7277766" y="4623149"/>
            <a:ext cx="1246870" cy="393192"/>
          </a:xfrm>
          <a:prstGeom prst="roundRect">
            <a:avLst>
              <a:gd name="adj" fmla="val 16279"/>
            </a:avLst>
          </a:prstGeom>
          <a:solidFill>
            <a:srgbClr val="E8F0FD"/>
          </a:solidFill>
          <a:ln w="9144">
            <a:solidFill>
              <a:srgbClr val="C9D9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文字 Mul"/>
          <p:cNvSpPr txBox="1"/>
          <p:nvPr/>
        </p:nvSpPr>
        <p:spPr>
          <a:xfrm>
            <a:off x="7488078" y="4717332"/>
            <a:ext cx="349472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Mul</a:t>
            </a:r>
          </a:p>
        </p:txBody>
      </p:sp>
      <p:sp>
        <p:nvSpPr>
          <p:cNvPr id="61" name="文字 Ascend C"/>
          <p:cNvSpPr txBox="1"/>
          <p:nvPr/>
        </p:nvSpPr>
        <p:spPr>
          <a:xfrm>
            <a:off x="7864983" y="4772196"/>
            <a:ext cx="495061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647C94"/>
                </a:solidFill>
                <a:latin typeface="Microsoft YaHei"/>
                <a:ea typeface="Microsoft YaHei"/>
              </a:rPr>
              <a:t>Ascend C</a:t>
            </a:r>
          </a:p>
        </p:txBody>
      </p:sp>
      <p:sp>
        <p:nvSpPr>
          <p:cNvPr id="62" name="文字 ⇒"/>
          <p:cNvSpPr txBox="1"/>
          <p:nvPr/>
        </p:nvSpPr>
        <p:spPr>
          <a:xfrm>
            <a:off x="8643508" y="4653324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⇒</a:t>
            </a:r>
          </a:p>
        </p:txBody>
      </p:sp>
      <p:sp>
        <p:nvSpPr>
          <p:cNvPr id="63" name="形状 single"/>
          <p:cNvSpPr/>
          <p:nvPr/>
        </p:nvSpPr>
        <p:spPr>
          <a:xfrm>
            <a:off x="8984694" y="4614005"/>
            <a:ext cx="2252567" cy="411480"/>
          </a:xfrm>
          <a:prstGeom prst="roundRect">
            <a:avLst>
              <a:gd name="adj" fmla="val 15555"/>
            </a:avLst>
          </a:prstGeom>
          <a:solidFill>
            <a:srgbClr val="F3F7FD"/>
          </a:solidFill>
          <a:ln w="9144">
            <a:solidFill>
              <a:srgbClr val="9EB7D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文字 一个 sk_entry_mix12 设备任务"/>
          <p:cNvSpPr txBox="1"/>
          <p:nvPr/>
        </p:nvSpPr>
        <p:spPr>
          <a:xfrm>
            <a:off x="9130998" y="4735620"/>
            <a:ext cx="2005679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37547A"/>
                </a:solidFill>
                <a:latin typeface="Microsoft YaHei"/>
                <a:ea typeface="Microsoft YaHei"/>
              </a:rPr>
              <a:t>一个 sk_entry_mix12 设备任务</a:t>
            </a:r>
          </a:p>
        </p:txBody>
      </p:sp>
      <p:sp>
        <p:nvSpPr>
          <p:cNvPr id="65" name="形状 sk-step"/>
          <p:cNvSpPr/>
          <p:nvPr/>
        </p:nvSpPr>
        <p:spPr>
          <a:xfrm>
            <a:off x="676656" y="5171789"/>
            <a:ext cx="4334256" cy="1153429"/>
          </a:xfrm>
          <a:prstGeom prst="roundRect">
            <a:avLst>
              <a:gd name="adj" fmla="val 6342"/>
            </a:avLst>
          </a:prstGeom>
          <a:solidFill>
            <a:srgbClr val="F4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标题 ① 为在线编译提供完整源码"/>
          <p:cNvSpPr txBox="1"/>
          <p:nvPr/>
        </p:nvSpPr>
        <p:spPr>
          <a:xfrm>
            <a:off x="813816" y="5293404"/>
            <a:ext cx="2038397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① 为在线编译提供完整源码</a:t>
            </a:r>
          </a:p>
        </p:txBody>
      </p:sp>
      <p:sp>
        <p:nvSpPr>
          <p:cNvPr id="67" name="文字 include/ 与 generated/ 一同装入 OPP；"/>
          <p:cNvSpPr txBox="1"/>
          <p:nvPr/>
        </p:nvSpPr>
        <p:spPr>
          <a:xfrm>
            <a:off x="813816" y="5580440"/>
            <a:ext cx="244830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07287"/>
                </a:solidFill>
                <a:latin typeface="Microsoft YaHei"/>
                <a:ea typeface="Microsoft YaHei"/>
              </a:rPr>
              <a:t>include/ 与 generated/ 一同装入 OPP；</a:t>
            </a:r>
          </a:p>
        </p:txBody>
      </p:sp>
      <p:sp>
        <p:nvSpPr>
          <p:cNvPr id="68" name="文字 保持相对包含路径，让 CANN 能重编核。"/>
          <p:cNvSpPr txBox="1"/>
          <p:nvPr/>
        </p:nvSpPr>
        <p:spPr>
          <a:xfrm>
            <a:off x="813816" y="5793038"/>
            <a:ext cx="25404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07287"/>
                </a:solidFill>
                <a:latin typeface="Microsoft YaHei"/>
                <a:ea typeface="Microsoft YaHei"/>
              </a:rPr>
              <a:t>保持相对包含路径，让 CANN 能重编核。</a:t>
            </a:r>
          </a:p>
        </p:txBody>
      </p:sp>
      <p:sp>
        <p:nvSpPr>
          <p:cNvPr id="69" name="文字 Add / Mul 使用具备 SK 能力的 Ascend C 实现。"/>
          <p:cNvSpPr txBox="1"/>
          <p:nvPr/>
        </p:nvSpPr>
        <p:spPr>
          <a:xfrm>
            <a:off x="813816" y="6005636"/>
            <a:ext cx="2909935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07287"/>
                </a:solidFill>
                <a:latin typeface="Microsoft YaHei"/>
                <a:ea typeface="Microsoft YaHei"/>
              </a:rPr>
              <a:t>Add / Mul 使用具备 SK 能力的 Ascend C 实现。</a:t>
            </a:r>
          </a:p>
        </p:txBody>
      </p:sp>
      <p:sp>
        <p:nvSpPr>
          <p:cNvPr id="70" name="形状 sk-step"/>
          <p:cNvSpPr/>
          <p:nvPr/>
        </p:nvSpPr>
        <p:spPr>
          <a:xfrm>
            <a:off x="5148072" y="5171789"/>
            <a:ext cx="4334256" cy="1153429"/>
          </a:xfrm>
          <a:prstGeom prst="roundRect">
            <a:avLst>
              <a:gd name="adj" fmla="val 6342"/>
            </a:avLst>
          </a:prstGeom>
          <a:solidFill>
            <a:srgbClr val="F4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标题 ② 接通逻辑核号与资源分配"/>
          <p:cNvSpPr txBox="1"/>
          <p:nvPr/>
        </p:nvSpPr>
        <p:spPr>
          <a:xfrm>
            <a:off x="5285232" y="5293404"/>
            <a:ext cx="2038397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② 接通逻辑核号与资源分配</a:t>
            </a:r>
          </a:p>
        </p:txBody>
      </p:sp>
      <p:sp>
        <p:nvSpPr>
          <p:cNvPr id="72" name="文字 组号 = GetBlockIdx() / GetTaskRatio()"/>
          <p:cNvSpPr txBox="1"/>
          <p:nvPr/>
        </p:nvSpPr>
        <p:spPr>
          <a:xfrm>
            <a:off x="5285232" y="5580440"/>
            <a:ext cx="26451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607287"/>
                </a:solidFill>
                <a:latin typeface="Consolas"/>
                <a:ea typeface="Microsoft YaHei"/>
              </a:rPr>
              <a:t>组号 = GetBlockIdx() / GetTaskRatio()</a:t>
            </a:r>
          </a:p>
        </p:txBody>
      </p:sp>
      <p:sp>
        <p:nvSpPr>
          <p:cNvPr id="73" name="文字 由 AscendC 逻辑索引恢复 MIX 组号；"/>
          <p:cNvSpPr txBox="1"/>
          <p:nvPr/>
        </p:nvSpPr>
        <p:spPr>
          <a:xfrm>
            <a:off x="5285232" y="5764606"/>
            <a:ext cx="2326719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07287"/>
                </a:solidFill>
                <a:latin typeface="Microsoft YaHei"/>
                <a:ea typeface="Microsoft YaHei"/>
              </a:rPr>
              <a:t>由 AscendC 逻辑索引恢复 MIX 组号；</a:t>
            </a:r>
          </a:p>
        </p:txBody>
      </p:sp>
      <p:sp>
        <p:nvSpPr>
          <p:cNvPr id="74" name="文字 按平台核数统一 Tiling、任务步长和 FIFO。"/>
          <p:cNvSpPr txBox="1"/>
          <p:nvPr/>
        </p:nvSpPr>
        <p:spPr>
          <a:xfrm>
            <a:off x="5285232" y="5977204"/>
            <a:ext cx="2649759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07287"/>
                </a:solidFill>
                <a:latin typeface="Microsoft YaHei"/>
                <a:ea typeface="Microsoft YaHei"/>
              </a:rPr>
              <a:t>按平台核数统一 Tiling、任务步长和 FIFO。</a:t>
            </a:r>
          </a:p>
        </p:txBody>
      </p:sp>
      <p:sp>
        <p:nvSpPr>
          <p:cNvPr id="75" name="形状 sk-step"/>
          <p:cNvSpPr/>
          <p:nvPr/>
        </p:nvSpPr>
        <p:spPr>
          <a:xfrm>
            <a:off x="9619488" y="5171789"/>
            <a:ext cx="4334256" cy="1153429"/>
          </a:xfrm>
          <a:prstGeom prst="roundRect">
            <a:avLst>
              <a:gd name="adj" fmla="val 6342"/>
            </a:avLst>
          </a:prstGeom>
          <a:solidFill>
            <a:srgbClr val="F4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标题 ③ 标定范围 → 静态编译 → 融合"/>
          <p:cNvSpPr txBox="1"/>
          <p:nvPr/>
        </p:nvSpPr>
        <p:spPr>
          <a:xfrm>
            <a:off x="9756648" y="5293404"/>
            <a:ext cx="2320718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③ 标定范围 → 静态编译 → 融合</a:t>
            </a:r>
          </a:p>
        </p:txBody>
      </p:sp>
      <p:sp>
        <p:nvSpPr>
          <p:cNvPr id="77" name="文字 Add → HC_pre → Mul 放入同一 scope；"/>
          <p:cNvSpPr txBox="1"/>
          <p:nvPr/>
        </p:nvSpPr>
        <p:spPr>
          <a:xfrm>
            <a:off x="9756648" y="5580440"/>
            <a:ext cx="2457021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07287"/>
                </a:solidFill>
                <a:latin typeface="Microsoft YaHei"/>
                <a:ea typeface="Microsoft YaHei"/>
              </a:rPr>
              <a:t>Add → HC_pre → Mul 放入同一 scope；</a:t>
            </a:r>
          </a:p>
        </p:txBody>
      </p:sp>
      <p:sp>
        <p:nvSpPr>
          <p:cNvPr id="78" name="文字 启用 static_kernel_compile / super_kernel_optimize；"/>
          <p:cNvSpPr txBox="1"/>
          <p:nvPr/>
        </p:nvSpPr>
        <p:spPr>
          <a:xfrm>
            <a:off x="9756648" y="5793038"/>
            <a:ext cx="3314414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07287"/>
                </a:solidFill>
                <a:latin typeface="Microsoft YaHei"/>
                <a:ea typeface="Microsoft YaHei"/>
              </a:rPr>
              <a:t>启用 static_kernel_compile / super_kernel_optimize；</a:t>
            </a:r>
          </a:p>
        </p:txBody>
      </p:sp>
      <p:sp>
        <p:nvSpPr>
          <p:cNvPr id="79" name="文字 核对三个成员与唯一 SK 入口，再重放验收。"/>
          <p:cNvSpPr txBox="1"/>
          <p:nvPr/>
        </p:nvSpPr>
        <p:spPr>
          <a:xfrm>
            <a:off x="9756648" y="6005636"/>
            <a:ext cx="2736484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07287"/>
                </a:solidFill>
                <a:latin typeface="Microsoft YaHei"/>
                <a:ea typeface="Microsoft YaHei"/>
              </a:rPr>
              <a:t>核对三个成员与唯一 SK 入口，再重放验收。</a:t>
            </a:r>
          </a:p>
        </p:txBody>
      </p:sp>
      <p:sp>
        <p:nvSpPr>
          <p:cNvPr id="80" name="形状 early"/>
          <p:cNvSpPr/>
          <p:nvPr/>
        </p:nvSpPr>
        <p:spPr>
          <a:xfrm>
            <a:off x="676656" y="6444091"/>
            <a:ext cx="13277088" cy="72237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676656" y="6444091"/>
            <a:ext cx="13277088" cy="0"/>
          </a:xfrm>
          <a:prstGeom prst="line">
            <a:avLst/>
          </a:prstGeom>
          <a:ln w="9144">
            <a:solidFill>
              <a:srgbClr val="DF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文字 可选 Early-Start：在包装入口接 CANN 原生 Wait / Set"/>
          <p:cNvSpPr txBox="1"/>
          <p:nvPr/>
        </p:nvSpPr>
        <p:spPr>
          <a:xfrm>
            <a:off x="676656" y="6574850"/>
            <a:ext cx="387591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可选 Early-Start：在包装入口接 CANN 原生 Wait / Set</a:t>
            </a:r>
          </a:p>
        </p:txBody>
      </p:sp>
      <p:sp>
        <p:nvSpPr>
          <p:cNvPr id="83" name="文字 PR #3 已验证功能 · 默认关闭"/>
          <p:cNvSpPr txBox="1"/>
          <p:nvPr/>
        </p:nvSpPr>
        <p:spPr>
          <a:xfrm>
            <a:off x="4598289" y="6593138"/>
            <a:ext cx="1667779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758497"/>
                </a:solidFill>
                <a:latin typeface="Microsoft YaHei"/>
                <a:ea typeface="Microsoft YaHei"/>
              </a:rPr>
              <a:t>PR #3 已验证功能 · 默认关闭</a:t>
            </a:r>
          </a:p>
        </p:txBody>
      </p:sp>
      <p:sp>
        <p:nvSpPr>
          <p:cNvPr id="84" name="文字 HC_pre 标量配置"/>
          <p:cNvSpPr txBox="1"/>
          <p:nvPr/>
        </p:nvSpPr>
        <p:spPr>
          <a:xfrm>
            <a:off x="676656" y="6940610"/>
            <a:ext cx="1005268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5D7087"/>
                </a:solidFill>
                <a:latin typeface="Microsoft YaHei"/>
                <a:ea typeface="Microsoft YaHei"/>
              </a:rPr>
              <a:t>HC_pre 标量配置</a:t>
            </a:r>
          </a:p>
        </p:txBody>
      </p:sp>
      <p:sp>
        <p:nvSpPr>
          <p:cNvPr id="85" name="文字 →"/>
          <p:cNvSpPr txBox="1"/>
          <p:nvPr/>
        </p:nvSpPr>
        <p:spPr>
          <a:xfrm>
            <a:off x="1727644" y="6936038"/>
            <a:ext cx="153019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5D708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6" name="形状 bound"/>
          <p:cNvSpPr/>
          <p:nvPr/>
        </p:nvSpPr>
        <p:spPr>
          <a:xfrm>
            <a:off x="1926383" y="6883003"/>
            <a:ext cx="1184862" cy="265176"/>
          </a:xfrm>
          <a:prstGeom prst="roundRect">
            <a:avLst>
              <a:gd name="adj" fmla="val 17241"/>
            </a:avLst>
          </a:prstGeom>
          <a:solidFill>
            <a:srgbClr val="E5E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文字 WaitPreTaskEnd"/>
          <p:cNvSpPr txBox="1"/>
          <p:nvPr/>
        </p:nvSpPr>
        <p:spPr>
          <a:xfrm>
            <a:off x="2017823" y="6940610"/>
            <a:ext cx="104770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315B9B"/>
                </a:solidFill>
                <a:latin typeface="Consolas"/>
                <a:ea typeface="Microsoft YaHei"/>
              </a:rPr>
              <a:t>WaitPreTaskEnd</a:t>
            </a:r>
          </a:p>
        </p:txBody>
      </p:sp>
      <p:sp>
        <p:nvSpPr>
          <p:cNvPr id="88" name="文字 →"/>
          <p:cNvSpPr txBox="1"/>
          <p:nvPr/>
        </p:nvSpPr>
        <p:spPr>
          <a:xfrm>
            <a:off x="3202686" y="6936038"/>
            <a:ext cx="153019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5D708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9" name="形状 calc"/>
          <p:cNvSpPr/>
          <p:nvPr/>
        </p:nvSpPr>
        <p:spPr>
          <a:xfrm>
            <a:off x="3401425" y="6864715"/>
            <a:ext cx="2309288" cy="301752"/>
          </a:xfrm>
          <a:prstGeom prst="roundRect">
            <a:avLst>
              <a:gd name="adj" fmla="val 15151"/>
            </a:avLst>
          </a:prstGeom>
          <a:solidFill>
            <a:srgbClr val="E9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文字 生成的 AIC / AIV 函数（含完整收尾）"/>
          <p:cNvSpPr txBox="1"/>
          <p:nvPr/>
        </p:nvSpPr>
        <p:spPr>
          <a:xfrm>
            <a:off x="3502009" y="6940610"/>
            <a:ext cx="215384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28664D"/>
                </a:solidFill>
                <a:latin typeface="Microsoft YaHei"/>
                <a:ea typeface="Microsoft YaHei"/>
              </a:rPr>
              <a:t>生成的 AIC / AIV 函数（含完整收尾）</a:t>
            </a:r>
          </a:p>
        </p:txBody>
      </p:sp>
      <p:sp>
        <p:nvSpPr>
          <p:cNvPr id="91" name="文字 →"/>
          <p:cNvSpPr txBox="1"/>
          <p:nvPr/>
        </p:nvSpPr>
        <p:spPr>
          <a:xfrm>
            <a:off x="5802153" y="6936038"/>
            <a:ext cx="153019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5D708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2" name="形状 bound"/>
          <p:cNvSpPr/>
          <p:nvPr/>
        </p:nvSpPr>
        <p:spPr>
          <a:xfrm>
            <a:off x="6000892" y="6883003"/>
            <a:ext cx="1328023" cy="265176"/>
          </a:xfrm>
          <a:prstGeom prst="roundRect">
            <a:avLst>
              <a:gd name="adj" fmla="val 17241"/>
            </a:avLst>
          </a:prstGeom>
          <a:solidFill>
            <a:srgbClr val="E5E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文字 SetNextTaskStart"/>
          <p:cNvSpPr txBox="1"/>
          <p:nvPr/>
        </p:nvSpPr>
        <p:spPr>
          <a:xfrm>
            <a:off x="6092332" y="6940610"/>
            <a:ext cx="1190863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315B9B"/>
                </a:solidFill>
                <a:latin typeface="Consolas"/>
                <a:ea typeface="Microsoft YaHei"/>
              </a:rPr>
              <a:t>SetNextTaskStart</a:t>
            </a:r>
          </a:p>
        </p:txBody>
      </p:sp>
      <p:sp>
        <p:nvSpPr>
          <p:cNvPr id="94" name="文字 ✓ 融合成员与入口核验"/>
          <p:cNvSpPr txBox="1"/>
          <p:nvPr/>
        </p:nvSpPr>
        <p:spPr>
          <a:xfrm>
            <a:off x="676656" y="7288082"/>
            <a:ext cx="1338453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 lang="zh-CN" dirty="0">
                <a:solidFill>
                  <a:srgbClr val="167151"/>
                </a:solidFill>
                <a:latin typeface="Microsoft YaHei"/>
                <a:ea typeface="Microsoft YaHei"/>
              </a:rPr>
              <a:t>✓ 融合成员与入口核验</a:t>
            </a:r>
          </a:p>
        </p:txBody>
      </p:sp>
      <p:sp>
        <p:nvSpPr>
          <p:cNvPr id="95" name="文字 ✓ 两组输入重放"/>
          <p:cNvSpPr txBox="1"/>
          <p:nvPr/>
        </p:nvSpPr>
        <p:spPr>
          <a:xfrm>
            <a:off x="2106549" y="7288082"/>
            <a:ext cx="95440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4C7565"/>
                </a:solidFill>
                <a:latin typeface="Microsoft YaHei"/>
                <a:ea typeface="Microsoft YaHei"/>
              </a:rPr>
              <a:t>✓ 两组输入重放</a:t>
            </a:r>
          </a:p>
        </p:txBody>
      </p:sp>
      <p:sp>
        <p:nvSpPr>
          <p:cNvPr id="96" name="文字 ✓ 三输出精度与输入保护区"/>
          <p:cNvSpPr txBox="1"/>
          <p:nvPr/>
        </p:nvSpPr>
        <p:spPr>
          <a:xfrm>
            <a:off x="3152394" y="7288082"/>
            <a:ext cx="159448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4C7565"/>
                </a:solidFill>
                <a:latin typeface="Microsoft YaHei"/>
                <a:ea typeface="Microsoft YaHei"/>
              </a:rPr>
              <a:t>✓ 三输出精度与输入保护区</a:t>
            </a:r>
          </a:p>
        </p:txBody>
      </p:sp>
      <p:sp>
        <p:nvSpPr>
          <p:cNvPr id="97" name="文字 六个分档共用 Wait / Set 包装边界"/>
          <p:cNvSpPr txBox="1"/>
          <p:nvPr/>
        </p:nvSpPr>
        <p:spPr>
          <a:xfrm>
            <a:off x="4838319" y="7288082"/>
            <a:ext cx="1940099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4C7565"/>
                </a:solidFill>
                <a:latin typeface="Microsoft YaHei"/>
                <a:ea typeface="Microsoft YaHei"/>
              </a:rPr>
              <a:t>六个分档共用 Wait / Set 包装边界</a:t>
            </a:r>
          </a:p>
        </p:txBody>
      </p:sp>
      <p:sp>
        <p:nvSpPr>
          <p:cNvPr id="98" name="形状 "/>
          <p:cNvSpPr/>
          <p:nvPr/>
        </p:nvSpPr>
        <p:spPr>
          <a:xfrm>
            <a:off x="475488" y="7772400"/>
            <a:ext cx="13679424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475488" y="7772400"/>
            <a:ext cx="13679424" cy="0"/>
          </a:xfrm>
          <a:prstGeom prst="line">
            <a:avLst/>
          </a:prstGeom>
          <a:ln w="9144">
            <a:solidFill>
              <a:srgbClr val="DC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文字 接入证据采用 PR #2 / #3 的 T96 验收：CANN 9.2.0，Ascend910_9362，20 AIC / 40 AIV。图初始化可在线编译已生成 C++；本页不展开上层框架用法。"/>
          <p:cNvSpPr txBox="1"/>
          <p:nvPr/>
        </p:nvSpPr>
        <p:spPr>
          <a:xfrm>
            <a:off x="475488" y="7894015"/>
            <a:ext cx="735606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A889A"/>
                </a:solidFill>
                <a:latin typeface="Microsoft YaHei"/>
                <a:ea typeface="Microsoft YaHei"/>
              </a:rPr>
              <a:t>接入证据采用 PR #2 / #3 的 T96 验收：CANN 9.2.0，Ascend910_9362，20 AIC / 40 AIV。图初始化可在线编译已生成 C++；本页不展开上层框架用法。</a:t>
            </a:r>
          </a:p>
        </p:txBody>
      </p:sp>
      <p:sp>
        <p:nvSpPr>
          <p:cNvPr id="101" name="文字 来源见备注"/>
          <p:cNvSpPr txBox="1"/>
          <p:nvPr/>
        </p:nvSpPr>
        <p:spPr>
          <a:xfrm>
            <a:off x="12411551" y="7903159"/>
            <a:ext cx="688800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536D94"/>
                </a:solidFill>
                <a:latin typeface="Microsoft YaHei"/>
                <a:ea typeface="Microsoft YaHei"/>
              </a:rPr>
              <a:t>来源见备注</a:t>
            </a:r>
          </a:p>
        </p:txBody>
      </p:sp>
      <p:sp>
        <p:nvSpPr>
          <p:cNvPr id="102" name="文字 下一页 →">
            <a:hlinkClick action="ppaction://hlinksldjump" r:id="rId3"/>
          </p:cNvPr>
          <p:cNvSpPr txBox="1"/>
          <p:nvPr/>
        </p:nvSpPr>
        <p:spPr>
          <a:xfrm>
            <a:off x="13210079" y="7903159"/>
            <a:ext cx="495347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536D94"/>
                </a:solidFill>
                <a:latin typeface="Microsoft YaHei"/>
                <a:ea typeface="Microsoft YaHei"/>
              </a:rPr>
              <a:t>下一页 →</a:t>
            </a:r>
          </a:p>
        </p:txBody>
      </p:sp>
      <p:sp>
        <p:nvSpPr>
          <p:cNvPr id="103" name="文字 02 / 04"/>
          <p:cNvSpPr txBox="1"/>
          <p:nvPr/>
        </p:nvSpPr>
        <p:spPr>
          <a:xfrm>
            <a:off x="13815155" y="7894015"/>
            <a:ext cx="38547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A889A"/>
                </a:solidFill>
                <a:latin typeface="Microsoft YaHei"/>
                <a:ea typeface="Microsoft YaHei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动态 Attention：负载均衡收益可能超过调度成本"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形状 顶部色条"/>
          <p:cNvSpPr/>
          <p:nvPr/>
        </p:nvSpPr>
        <p:spPr>
          <a:xfrm>
            <a:off x="0" y="0"/>
            <a:ext cx="9363456" cy="54864"/>
          </a:xfrm>
          <a:prstGeom prst="rect">
            <a:avLst/>
          </a:prstGeom>
          <a:solidFill>
            <a:srgbClr val="245B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形状 顶部色条"/>
          <p:cNvSpPr/>
          <p:nvPr/>
        </p:nvSpPr>
        <p:spPr>
          <a:xfrm>
            <a:off x="9363456" y="0"/>
            <a:ext cx="5266944" cy="54864"/>
          </a:xfrm>
          <a:prstGeom prst="rect">
            <a:avLst/>
          </a:prstGeom>
          <a:solidFill>
            <a:srgbClr val="0879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文字 CSA"/>
          <p:cNvSpPr txBox="1"/>
          <p:nvPr/>
        </p:nvSpPr>
        <p:spPr>
          <a:xfrm>
            <a:off x="475488" y="304495"/>
            <a:ext cx="3270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dirty="0" spc="86">
                <a:solidFill>
                  <a:srgbClr val="245BD6"/>
                </a:solidFill>
                <a:latin typeface="Microsoft YaHei"/>
                <a:ea typeface="Microsoft YaHei"/>
              </a:rPr>
              <a:t>CSA</a:t>
            </a:r>
          </a:p>
        </p:txBody>
      </p:sp>
      <p:sp>
        <p:nvSpPr>
          <p:cNvPr id="5" name="文字 /"/>
          <p:cNvSpPr txBox="1"/>
          <p:nvPr/>
        </p:nvSpPr>
        <p:spPr>
          <a:xfrm>
            <a:off x="875680" y="304495"/>
            <a:ext cx="10615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 spc="72">
                <a:solidFill>
                  <a:srgbClr val="B5C3D4"/>
                </a:solidFill>
                <a:latin typeface="Microsoft YaHei"/>
                <a:ea typeface="Microsoft YaHei"/>
              </a:rPr>
              <a:t>/</a:t>
            </a:r>
          </a:p>
        </p:txBody>
      </p:sp>
      <p:sp>
        <p:nvSpPr>
          <p:cNvPr id="6" name="文字 动态负载下的执行方式选择"/>
          <p:cNvSpPr txBox="1"/>
          <p:nvPr/>
        </p:nvSpPr>
        <p:spPr>
          <a:xfrm>
            <a:off x="1054989" y="304495"/>
            <a:ext cx="1801368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 spc="72">
                <a:solidFill>
                  <a:srgbClr val="607286"/>
                </a:solidFill>
                <a:latin typeface="Microsoft YaHei"/>
                <a:ea typeface="Microsoft YaHei"/>
              </a:rPr>
              <a:t>动态负载下的执行方式选择</a:t>
            </a:r>
          </a:p>
        </p:txBody>
      </p:sp>
      <p:sp>
        <p:nvSpPr>
          <p:cNvPr id="7" name="文字 01 均衡与蒸馏"/>
          <p:cNvSpPr txBox="1"/>
          <p:nvPr/>
        </p:nvSpPr>
        <p:spPr>
          <a:xfrm>
            <a:off x="9918954" y="318211"/>
            <a:ext cx="80195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01 均衡与蒸馏</a:t>
            </a:r>
          </a:p>
        </p:txBody>
      </p:sp>
      <p:sp>
        <p:nvSpPr>
          <p:cNvPr id="8" name="文字 02 ACLNN 与 SuperKernel"/>
          <p:cNvSpPr txBox="1"/>
          <p:nvPr/>
        </p:nvSpPr>
        <p:spPr>
          <a:xfrm>
            <a:off x="10821495" y="318211"/>
            <a:ext cx="141932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02 ACLNN 与 SuperKernel</a:t>
            </a:r>
          </a:p>
        </p:txBody>
      </p:sp>
      <p:sp>
        <p:nvSpPr>
          <p:cNvPr id="9" name="文字 03 动态负载权衡"/>
          <p:cNvSpPr txBox="1"/>
          <p:nvPr/>
        </p:nvSpPr>
        <p:spPr>
          <a:xfrm>
            <a:off x="12341399" y="318211"/>
            <a:ext cx="92082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245BD6"/>
                </a:solidFill>
                <a:latin typeface="Microsoft YaHei"/>
                <a:ea typeface="Microsoft YaHei"/>
              </a:rPr>
              <a:t>03 动态负载权衡</a:t>
            </a:r>
          </a:p>
        </p:txBody>
      </p:sp>
      <p:sp>
        <p:nvSpPr>
          <p:cNvPr id="10" name="文字 04 L1 实测证据"/>
          <p:cNvSpPr txBox="1"/>
          <p:nvPr/>
        </p:nvSpPr>
        <p:spPr>
          <a:xfrm>
            <a:off x="13362813" y="318211"/>
            <a:ext cx="83781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04 L1 实测证据</a:t>
            </a:r>
          </a:p>
        </p:txBody>
      </p:sp>
      <p:sp>
        <p:nvSpPr>
          <p:cNvPr id="11" name="标题 动态 Attention："/>
          <p:cNvSpPr txBox="1"/>
          <p:nvPr/>
        </p:nvSpPr>
        <p:spPr>
          <a:xfrm>
            <a:off x="475488" y="651967"/>
            <a:ext cx="2961227" cy="466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 lang="zh-CN" dirty="0" spc="-72">
                <a:solidFill>
                  <a:srgbClr val="142C45"/>
                </a:solidFill>
                <a:latin typeface="Microsoft YaHei"/>
                <a:ea typeface="Microsoft YaHei"/>
              </a:rPr>
              <a:t>动态 Attention：</a:t>
            </a:r>
          </a:p>
        </p:txBody>
      </p:sp>
      <p:sp>
        <p:nvSpPr>
          <p:cNvPr id="12" name="标题 负载均衡收益可能超过调度成本"/>
          <p:cNvSpPr txBox="1"/>
          <p:nvPr/>
        </p:nvSpPr>
        <p:spPr>
          <a:xfrm>
            <a:off x="3390995" y="651967"/>
            <a:ext cx="5294376" cy="466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 lang="zh-CN" dirty="0" spc="-72">
                <a:solidFill>
                  <a:srgbClr val="245BD6"/>
                </a:solidFill>
                <a:latin typeface="Microsoft YaHei"/>
                <a:ea typeface="Microsoft YaHei"/>
              </a:rPr>
              <a:t>负载均衡收益可能超过调度成本</a:t>
            </a:r>
          </a:p>
        </p:txBody>
      </p:sp>
      <p:sp>
        <p:nvSpPr>
          <p:cNvPr id="13" name="文字 以 CSA 为例：运行时工作量和就绪时刻会变化；"/>
          <p:cNvSpPr txBox="1"/>
          <p:nvPr/>
        </p:nvSpPr>
        <p:spPr>
          <a:xfrm>
            <a:off x="475488" y="1242612"/>
            <a:ext cx="393192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以 CSA 为例：运行时工作量和就绪时刻会变化；</a:t>
            </a:r>
          </a:p>
        </p:txBody>
      </p:sp>
      <p:sp>
        <p:nvSpPr>
          <p:cNvPr id="14" name="文字 蒸馏为单 SPMD，不能自动保留 MPMD 的全部动态调度能力。"/>
          <p:cNvSpPr txBox="1"/>
          <p:nvPr/>
        </p:nvSpPr>
        <p:spPr>
          <a:xfrm>
            <a:off x="4361688" y="1242612"/>
            <a:ext cx="5100494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蒸馏为单 SPMD，不能自动保留 MPMD 的全部动态调度能力。</a:t>
            </a:r>
          </a:p>
        </p:txBody>
      </p:sp>
      <p:sp>
        <p:nvSpPr>
          <p:cNvPr id="15" name="形状 step"/>
          <p:cNvSpPr/>
          <p:nvPr/>
        </p:nvSpPr>
        <p:spPr>
          <a:xfrm>
            <a:off x="475488" y="1697069"/>
            <a:ext cx="3214116" cy="67665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9144">
            <a:solidFill>
              <a:srgbClr val="D2E0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文字 运行时 metadata"/>
          <p:cNvSpPr txBox="1"/>
          <p:nvPr/>
        </p:nvSpPr>
        <p:spPr>
          <a:xfrm>
            <a:off x="1428892" y="1827828"/>
            <a:ext cx="1352883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运行时 metadata</a:t>
            </a:r>
          </a:p>
        </p:txBody>
      </p:sp>
      <p:sp>
        <p:nvSpPr>
          <p:cNvPr id="17" name="文字 Q / L、可见范围、压缩块"/>
          <p:cNvSpPr txBox="1"/>
          <p:nvPr/>
        </p:nvSpPr>
        <p:spPr>
          <a:xfrm>
            <a:off x="1370314" y="2093004"/>
            <a:ext cx="147004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718399"/>
                </a:solidFill>
                <a:latin typeface="Microsoft YaHei"/>
                <a:ea typeface="Microsoft YaHei"/>
              </a:rPr>
              <a:t>Q / L、可见范围、压缩块</a:t>
            </a:r>
          </a:p>
        </p:txBody>
      </p:sp>
      <p:sp>
        <p:nvSpPr>
          <p:cNvPr id="18" name="文字 →"/>
          <p:cNvSpPr txBox="1"/>
          <p:nvPr/>
        </p:nvSpPr>
        <p:spPr>
          <a:xfrm>
            <a:off x="3715607" y="1868976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19" name="形状 step"/>
          <p:cNvSpPr/>
          <p:nvPr/>
        </p:nvSpPr>
        <p:spPr>
          <a:xfrm>
            <a:off x="3963924" y="1710785"/>
            <a:ext cx="3214116" cy="649224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144">
            <a:solidFill>
              <a:srgbClr val="D2E0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文字 Indexer / Top-K"/>
          <p:cNvSpPr txBox="1"/>
          <p:nvPr/>
        </p:nvSpPr>
        <p:spPr>
          <a:xfrm>
            <a:off x="4965906" y="1823256"/>
            <a:ext cx="1255871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Indexer / Top-K</a:t>
            </a:r>
          </a:p>
        </p:txBody>
      </p:sp>
      <p:sp>
        <p:nvSpPr>
          <p:cNvPr id="21" name="文字 有效候选、页块与就绪时刻"/>
          <p:cNvSpPr txBox="1"/>
          <p:nvPr/>
        </p:nvSpPr>
        <p:spPr>
          <a:xfrm>
            <a:off x="4802886" y="2079288"/>
            <a:ext cx="158191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718399"/>
                </a:solidFill>
                <a:latin typeface="Microsoft YaHei"/>
                <a:ea typeface="Microsoft YaHei"/>
              </a:rPr>
              <a:t>有效候选、页块与就绪时刻</a:t>
            </a:r>
          </a:p>
        </p:txBody>
      </p:sp>
      <p:sp>
        <p:nvSpPr>
          <p:cNvPr id="22" name="文字 →"/>
          <p:cNvSpPr txBox="1"/>
          <p:nvPr/>
        </p:nvSpPr>
        <p:spPr>
          <a:xfrm>
            <a:off x="7204043" y="1868976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23" name="形状 step"/>
          <p:cNvSpPr/>
          <p:nvPr/>
        </p:nvSpPr>
        <p:spPr>
          <a:xfrm>
            <a:off x="7452360" y="1710785"/>
            <a:ext cx="3214116" cy="649224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144">
            <a:solidFill>
              <a:srgbClr val="D2E0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文字 Attention"/>
          <p:cNvSpPr txBox="1"/>
          <p:nvPr/>
        </p:nvSpPr>
        <p:spPr>
          <a:xfrm>
            <a:off x="8677370" y="1823256"/>
            <a:ext cx="809672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Attention</a:t>
            </a:r>
          </a:p>
        </p:txBody>
      </p:sp>
      <p:sp>
        <p:nvSpPr>
          <p:cNvPr id="25" name="文字 不同 query 的有效 KV 工作量"/>
          <p:cNvSpPr txBox="1"/>
          <p:nvPr/>
        </p:nvSpPr>
        <p:spPr>
          <a:xfrm>
            <a:off x="8241029" y="2079288"/>
            <a:ext cx="1682353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718399"/>
                </a:solidFill>
                <a:latin typeface="Microsoft YaHei"/>
                <a:ea typeface="Microsoft YaHei"/>
              </a:rPr>
              <a:t>不同 query 的有效 KV 工作量</a:t>
            </a:r>
          </a:p>
        </p:txBody>
      </p:sp>
      <p:sp>
        <p:nvSpPr>
          <p:cNvPr id="26" name="文字 →"/>
          <p:cNvSpPr txBox="1"/>
          <p:nvPr/>
        </p:nvSpPr>
        <p:spPr>
          <a:xfrm>
            <a:off x="10692479" y="1868976"/>
            <a:ext cx="268033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zh-CN" dirty="0">
                <a:solidFill>
                  <a:srgbClr val="8CA5C3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27" name="形状 step result"/>
          <p:cNvSpPr/>
          <p:nvPr/>
        </p:nvSpPr>
        <p:spPr>
          <a:xfrm>
            <a:off x="10940796" y="1697069"/>
            <a:ext cx="3214116" cy="676656"/>
          </a:xfrm>
          <a:prstGeom prst="roundRect">
            <a:avLst>
              <a:gd name="adj" fmla="val 10810"/>
            </a:avLst>
          </a:prstGeom>
          <a:solidFill>
            <a:srgbClr val="EAF2FF"/>
          </a:solidFill>
          <a:ln w="9144">
            <a:solidFill>
              <a:srgbClr val="D2E0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文字 各核负载可能不同"/>
          <p:cNvSpPr txBox="1"/>
          <p:nvPr/>
        </p:nvSpPr>
        <p:spPr>
          <a:xfrm>
            <a:off x="11889486" y="1827828"/>
            <a:ext cx="1362456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2457A2"/>
                </a:solidFill>
                <a:latin typeface="Microsoft YaHei"/>
                <a:ea typeface="Microsoft YaHei"/>
              </a:rPr>
              <a:t>各核负载可能不同</a:t>
            </a:r>
          </a:p>
        </p:txBody>
      </p:sp>
      <p:sp>
        <p:nvSpPr>
          <p:cNvPr id="29" name="文字 变长、稀疏 Attention 同样适用"/>
          <p:cNvSpPr txBox="1"/>
          <p:nvPr/>
        </p:nvSpPr>
        <p:spPr>
          <a:xfrm>
            <a:off x="11670744" y="2093004"/>
            <a:ext cx="1799939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718399"/>
                </a:solidFill>
                <a:latin typeface="Microsoft YaHei"/>
                <a:ea typeface="Microsoft YaHei"/>
              </a:rPr>
              <a:t>变长、稀疏 Attention 同样适用</a:t>
            </a:r>
          </a:p>
        </p:txBody>
      </p:sp>
      <p:sp>
        <p:nvSpPr>
          <p:cNvPr id="30" name="形状 balance-card"/>
          <p:cNvSpPr/>
          <p:nvPr/>
        </p:nvSpPr>
        <p:spPr>
          <a:xfrm>
            <a:off x="475488" y="2538317"/>
            <a:ext cx="6739128" cy="2578608"/>
          </a:xfrm>
          <a:prstGeom prst="roundRect">
            <a:avLst>
              <a:gd name="adj" fmla="val 4255"/>
            </a:avLst>
          </a:prstGeom>
          <a:solidFill>
            <a:srgbClr val="F3FAF6"/>
          </a:solidFill>
          <a:ln w="9144">
            <a:solidFill>
              <a:srgbClr val="CBDE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标题 MPMD：运行时继续分配就绪任务"/>
          <p:cNvSpPr txBox="1"/>
          <p:nvPr/>
        </p:nvSpPr>
        <p:spPr>
          <a:xfrm>
            <a:off x="704088" y="2751372"/>
            <a:ext cx="3364992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zh-CN" dirty="0">
                <a:solidFill>
                  <a:srgbClr val="156E59"/>
                </a:solidFill>
                <a:latin typeface="Microsoft YaHei"/>
                <a:ea typeface="Microsoft YaHei"/>
              </a:rPr>
              <a:t>MPMD：运行时继续分配就绪任务</a:t>
            </a:r>
          </a:p>
        </p:txBody>
      </p:sp>
      <p:sp>
        <p:nvSpPr>
          <p:cNvPr id="32" name="文字 有派发成本"/>
          <p:cNvSpPr txBox="1"/>
          <p:nvPr/>
        </p:nvSpPr>
        <p:spPr>
          <a:xfrm>
            <a:off x="6391656" y="2806236"/>
            <a:ext cx="64008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7B8C9D"/>
                </a:solidFill>
                <a:latin typeface="Microsoft YaHei"/>
                <a:ea typeface="Microsoft YaHei"/>
              </a:rPr>
              <a:t>有派发成本</a:t>
            </a:r>
          </a:p>
        </p:txBody>
      </p:sp>
      <p:sp>
        <p:nvSpPr>
          <p:cNvPr id="33" name="文字 在可调度的任务粒度上，让空闲的同类核接续工作。"/>
          <p:cNvSpPr txBox="1"/>
          <p:nvPr/>
        </p:nvSpPr>
        <p:spPr>
          <a:xfrm>
            <a:off x="704088" y="3135420"/>
            <a:ext cx="362102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5F7482"/>
                </a:solidFill>
                <a:latin typeface="Microsoft YaHei"/>
                <a:ea typeface="Microsoft YaHei"/>
              </a:rPr>
              <a:t>在可调度的任务粒度上，让空闲的同类核接续工作。</a:t>
            </a:r>
          </a:p>
        </p:txBody>
      </p:sp>
      <p:sp>
        <p:nvSpPr>
          <p:cNvPr id="34" name="文字 worker 0"/>
          <p:cNvSpPr txBox="1"/>
          <p:nvPr/>
        </p:nvSpPr>
        <p:spPr>
          <a:xfrm>
            <a:off x="704088" y="3565188"/>
            <a:ext cx="63507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62788F"/>
                </a:solidFill>
                <a:latin typeface="Arial"/>
                <a:ea typeface="Microsoft YaHei"/>
              </a:rPr>
              <a:t>worker 0</a:t>
            </a:r>
          </a:p>
        </p:txBody>
      </p:sp>
      <p:sp>
        <p:nvSpPr>
          <p:cNvPr id="35" name="形状 work-track"/>
          <p:cNvSpPr/>
          <p:nvPr/>
        </p:nvSpPr>
        <p:spPr>
          <a:xfrm>
            <a:off x="1453896" y="3503009"/>
            <a:ext cx="5532120" cy="274320"/>
          </a:xfrm>
          <a:prstGeom prst="roundRect">
            <a:avLst>
              <a:gd name="adj" fmla="val 16666"/>
            </a:avLst>
          </a:prstGeom>
          <a:solidFill>
            <a:srgbClr val="E5EC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形状 job"/>
          <p:cNvSpPr/>
          <p:nvPr/>
        </p:nvSpPr>
        <p:spPr>
          <a:xfrm>
            <a:off x="1453896" y="3503009"/>
            <a:ext cx="1843944" cy="274320"/>
          </a:xfrm>
          <a:prstGeom prst="rect">
            <a:avLst/>
          </a:prstGeom>
          <a:solidFill>
            <a:srgbClr val="78B7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3297840" y="3503009"/>
            <a:ext cx="0" cy="274320"/>
          </a:xfrm>
          <a:prstGeom prst="line">
            <a:avLst/>
          </a:prstGeom>
          <a:ln w="18288">
            <a:solidFill>
              <a:srgbClr val="F3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字 任务 A"/>
          <p:cNvSpPr txBox="1"/>
          <p:nvPr/>
        </p:nvSpPr>
        <p:spPr>
          <a:xfrm>
            <a:off x="2193702" y="3574332"/>
            <a:ext cx="39162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174F40"/>
                </a:solidFill>
                <a:latin typeface="Microsoft YaHei"/>
                <a:ea typeface="Microsoft YaHei"/>
              </a:rPr>
              <a:t>任务 A</a:t>
            </a:r>
          </a:p>
        </p:txBody>
      </p:sp>
      <p:sp>
        <p:nvSpPr>
          <p:cNvPr id="39" name="形状 job alt"/>
          <p:cNvSpPr/>
          <p:nvPr/>
        </p:nvSpPr>
        <p:spPr>
          <a:xfrm>
            <a:off x="3297840" y="3503009"/>
            <a:ext cx="1843944" cy="274320"/>
          </a:xfrm>
          <a:prstGeom prst="rect">
            <a:avLst/>
          </a:prstGeom>
          <a:solidFill>
            <a:srgbClr val="B3DB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141785" y="3503009"/>
            <a:ext cx="0" cy="274320"/>
          </a:xfrm>
          <a:prstGeom prst="line">
            <a:avLst/>
          </a:prstGeom>
          <a:ln w="18288">
            <a:solidFill>
              <a:srgbClr val="F3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字 任务 D"/>
          <p:cNvSpPr txBox="1"/>
          <p:nvPr/>
        </p:nvSpPr>
        <p:spPr>
          <a:xfrm>
            <a:off x="4034647" y="3574332"/>
            <a:ext cx="397621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174F40"/>
                </a:solidFill>
                <a:latin typeface="Microsoft YaHei"/>
                <a:ea typeface="Microsoft YaHei"/>
              </a:rPr>
              <a:t>任务 D</a:t>
            </a:r>
          </a:p>
        </p:txBody>
      </p:sp>
      <p:sp>
        <p:nvSpPr>
          <p:cNvPr id="42" name="文字 worker 1"/>
          <p:cNvSpPr txBox="1"/>
          <p:nvPr/>
        </p:nvSpPr>
        <p:spPr>
          <a:xfrm>
            <a:off x="704088" y="3912660"/>
            <a:ext cx="63507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62788F"/>
                </a:solidFill>
                <a:latin typeface="Arial"/>
                <a:ea typeface="Microsoft YaHei"/>
              </a:rPr>
              <a:t>worker 1</a:t>
            </a:r>
          </a:p>
        </p:txBody>
      </p:sp>
      <p:sp>
        <p:nvSpPr>
          <p:cNvPr id="43" name="形状 work-track"/>
          <p:cNvSpPr/>
          <p:nvPr/>
        </p:nvSpPr>
        <p:spPr>
          <a:xfrm>
            <a:off x="1453896" y="3850481"/>
            <a:ext cx="5532120" cy="274320"/>
          </a:xfrm>
          <a:prstGeom prst="roundRect">
            <a:avLst>
              <a:gd name="adj" fmla="val 16666"/>
            </a:avLst>
          </a:prstGeom>
          <a:solidFill>
            <a:srgbClr val="E5EC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形状 job"/>
          <p:cNvSpPr/>
          <p:nvPr/>
        </p:nvSpPr>
        <p:spPr>
          <a:xfrm>
            <a:off x="1453896" y="3850481"/>
            <a:ext cx="1843944" cy="274320"/>
          </a:xfrm>
          <a:prstGeom prst="rect">
            <a:avLst/>
          </a:prstGeom>
          <a:solidFill>
            <a:srgbClr val="78B7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297840" y="3850481"/>
            <a:ext cx="0" cy="274320"/>
          </a:xfrm>
          <a:prstGeom prst="line">
            <a:avLst/>
          </a:prstGeom>
          <a:ln w="18288">
            <a:solidFill>
              <a:srgbClr val="F3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字 任务 B"/>
          <p:cNvSpPr txBox="1"/>
          <p:nvPr/>
        </p:nvSpPr>
        <p:spPr>
          <a:xfrm>
            <a:off x="2194131" y="3921804"/>
            <a:ext cx="390763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174F40"/>
                </a:solidFill>
                <a:latin typeface="Microsoft YaHei"/>
                <a:ea typeface="Microsoft YaHei"/>
              </a:rPr>
              <a:t>任务 B</a:t>
            </a:r>
          </a:p>
        </p:txBody>
      </p:sp>
      <p:sp>
        <p:nvSpPr>
          <p:cNvPr id="47" name="形状 job alt"/>
          <p:cNvSpPr/>
          <p:nvPr/>
        </p:nvSpPr>
        <p:spPr>
          <a:xfrm>
            <a:off x="3297840" y="3850481"/>
            <a:ext cx="921972" cy="274320"/>
          </a:xfrm>
          <a:prstGeom prst="rect">
            <a:avLst/>
          </a:prstGeom>
          <a:solidFill>
            <a:srgbClr val="B3DB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219813" y="3850481"/>
            <a:ext cx="0" cy="274320"/>
          </a:xfrm>
          <a:prstGeom prst="line">
            <a:avLst/>
          </a:prstGeom>
          <a:ln w="18288">
            <a:solidFill>
              <a:srgbClr val="F3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字 E"/>
          <p:cNvSpPr txBox="1"/>
          <p:nvPr/>
        </p:nvSpPr>
        <p:spPr>
          <a:xfrm>
            <a:off x="3716321" y="3912660"/>
            <a:ext cx="11229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174F40"/>
                </a:solidFill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50" name="文字 worker 2"/>
          <p:cNvSpPr txBox="1"/>
          <p:nvPr/>
        </p:nvSpPr>
        <p:spPr>
          <a:xfrm>
            <a:off x="704088" y="4260132"/>
            <a:ext cx="63507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62788F"/>
                </a:solidFill>
                <a:latin typeface="Arial"/>
                <a:ea typeface="Microsoft YaHei"/>
              </a:rPr>
              <a:t>worker 2</a:t>
            </a:r>
          </a:p>
        </p:txBody>
      </p:sp>
      <p:sp>
        <p:nvSpPr>
          <p:cNvPr id="51" name="形状 work-track"/>
          <p:cNvSpPr/>
          <p:nvPr/>
        </p:nvSpPr>
        <p:spPr>
          <a:xfrm>
            <a:off x="1453896" y="4197953"/>
            <a:ext cx="5532120" cy="274320"/>
          </a:xfrm>
          <a:prstGeom prst="roundRect">
            <a:avLst>
              <a:gd name="adj" fmla="val 16666"/>
            </a:avLst>
          </a:prstGeom>
          <a:solidFill>
            <a:srgbClr val="E5EC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形状 job"/>
          <p:cNvSpPr/>
          <p:nvPr/>
        </p:nvSpPr>
        <p:spPr>
          <a:xfrm>
            <a:off x="1453896" y="4197953"/>
            <a:ext cx="1843944" cy="274320"/>
          </a:xfrm>
          <a:prstGeom prst="rect">
            <a:avLst/>
          </a:prstGeom>
          <a:solidFill>
            <a:srgbClr val="78B7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297840" y="4197953"/>
            <a:ext cx="0" cy="274320"/>
          </a:xfrm>
          <a:prstGeom prst="line">
            <a:avLst/>
          </a:prstGeom>
          <a:ln w="18288">
            <a:solidFill>
              <a:srgbClr val="F3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字 任务 C"/>
          <p:cNvSpPr txBox="1"/>
          <p:nvPr/>
        </p:nvSpPr>
        <p:spPr>
          <a:xfrm>
            <a:off x="2194417" y="4269276"/>
            <a:ext cx="390191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174F40"/>
                </a:solidFill>
                <a:latin typeface="Microsoft YaHei"/>
                <a:ea typeface="Microsoft YaHei"/>
              </a:rPr>
              <a:t>任务 C</a:t>
            </a:r>
          </a:p>
        </p:txBody>
      </p:sp>
      <p:sp>
        <p:nvSpPr>
          <p:cNvPr id="55" name="形状 job alt"/>
          <p:cNvSpPr/>
          <p:nvPr/>
        </p:nvSpPr>
        <p:spPr>
          <a:xfrm>
            <a:off x="3297840" y="4197953"/>
            <a:ext cx="921972" cy="274320"/>
          </a:xfrm>
          <a:prstGeom prst="rect">
            <a:avLst/>
          </a:prstGeom>
          <a:solidFill>
            <a:srgbClr val="B3DB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4219813" y="4197953"/>
            <a:ext cx="0" cy="274320"/>
          </a:xfrm>
          <a:prstGeom prst="line">
            <a:avLst/>
          </a:prstGeom>
          <a:ln w="18288">
            <a:solidFill>
              <a:srgbClr val="F3FA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字 F"/>
          <p:cNvSpPr txBox="1"/>
          <p:nvPr/>
        </p:nvSpPr>
        <p:spPr>
          <a:xfrm>
            <a:off x="3717036" y="4260132"/>
            <a:ext cx="111013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174F40"/>
                </a:solidFill>
                <a:latin typeface="Microsoft YaHei"/>
                <a:ea typeface="Microsoft YaHei"/>
              </a:rPr>
              <a:t>F</a:t>
            </a:r>
          </a:p>
        </p:txBody>
      </p:sp>
      <p:sp>
        <p:nvSpPr>
          <p:cNvPr id="58" name="文字 工作量变化时，有机会减少尾核拖延与资源空置，"/>
          <p:cNvSpPr txBox="1"/>
          <p:nvPr/>
        </p:nvSpPr>
        <p:spPr>
          <a:xfrm>
            <a:off x="704088" y="4630464"/>
            <a:ext cx="326440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4B7264"/>
                </a:solidFill>
                <a:latin typeface="Microsoft YaHei"/>
                <a:ea typeface="Microsoft YaHei"/>
              </a:rPr>
              <a:t>工作量变化时，有机会减少尾核拖延与资源空置，</a:t>
            </a:r>
          </a:p>
        </p:txBody>
      </p:sp>
      <p:sp>
        <p:nvSpPr>
          <p:cNvPr id="59" name="文字 其收益可能抵消、甚至超过动态调度的成本。"/>
          <p:cNvSpPr txBox="1"/>
          <p:nvPr/>
        </p:nvSpPr>
        <p:spPr>
          <a:xfrm>
            <a:off x="704088" y="4857207"/>
            <a:ext cx="2971800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4B7264"/>
                </a:solidFill>
                <a:latin typeface="Microsoft YaHei"/>
                <a:ea typeface="Microsoft YaHei"/>
              </a:rPr>
              <a:t>其收益可能抵消、甚至超过动态调度的成本。</a:t>
            </a:r>
          </a:p>
        </p:txBody>
      </p:sp>
      <p:sp>
        <p:nvSpPr>
          <p:cNvPr id="60" name="形状 balance-card fixed"/>
          <p:cNvSpPr/>
          <p:nvPr/>
        </p:nvSpPr>
        <p:spPr>
          <a:xfrm>
            <a:off x="7415783" y="2538317"/>
            <a:ext cx="6739128" cy="2578608"/>
          </a:xfrm>
          <a:prstGeom prst="roundRect">
            <a:avLst>
              <a:gd name="adj" fmla="val 4255"/>
            </a:avLst>
          </a:prstGeom>
          <a:solidFill>
            <a:srgbClr val="F3F6FC"/>
          </a:solidFill>
          <a:ln w="9144">
            <a:solidFill>
              <a:srgbClr val="D3DC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标题 单 SPMD：固定归属可能留下长尾"/>
          <p:cNvSpPr txBox="1"/>
          <p:nvPr/>
        </p:nvSpPr>
        <p:spPr>
          <a:xfrm>
            <a:off x="7644383" y="2751372"/>
            <a:ext cx="3336559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 lang="zh-CN" dirty="0">
                <a:solidFill>
                  <a:srgbClr val="315B9B"/>
                </a:solidFill>
                <a:latin typeface="Microsoft YaHei"/>
                <a:ea typeface="Microsoft YaHei"/>
              </a:rPr>
              <a:t>单 SPMD：固定归属可能留下长尾</a:t>
            </a:r>
          </a:p>
        </p:txBody>
      </p:sp>
      <p:sp>
        <p:nvSpPr>
          <p:cNvPr id="62" name="文字 外部派发更少"/>
          <p:cNvSpPr txBox="1"/>
          <p:nvPr/>
        </p:nvSpPr>
        <p:spPr>
          <a:xfrm>
            <a:off x="13213080" y="2806236"/>
            <a:ext cx="75895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7B8C9D"/>
                </a:solidFill>
                <a:latin typeface="Microsoft YaHei"/>
                <a:ea typeface="Microsoft YaHei"/>
              </a:rPr>
              <a:t>外部派发更少</a:t>
            </a:r>
          </a:p>
        </p:txBody>
      </p:sp>
      <p:sp>
        <p:nvSpPr>
          <p:cNvPr id="63" name="文字 动态循环仍能变化，但空闲核不会自动接走别核工作。"/>
          <p:cNvSpPr txBox="1"/>
          <p:nvPr/>
        </p:nvSpPr>
        <p:spPr>
          <a:xfrm>
            <a:off x="7644383" y="3135420"/>
            <a:ext cx="37764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 lang="zh-CN" dirty="0">
                <a:solidFill>
                  <a:srgbClr val="5F7482"/>
                </a:solidFill>
                <a:latin typeface="Microsoft YaHei"/>
                <a:ea typeface="Microsoft YaHei"/>
              </a:rPr>
              <a:t>动态循环仍能变化，但空闲核不会自动接走别核工作。</a:t>
            </a:r>
          </a:p>
        </p:txBody>
      </p:sp>
      <p:sp>
        <p:nvSpPr>
          <p:cNvPr id="64" name="文字 worker 0"/>
          <p:cNvSpPr txBox="1"/>
          <p:nvPr/>
        </p:nvSpPr>
        <p:spPr>
          <a:xfrm>
            <a:off x="7644383" y="3565188"/>
            <a:ext cx="63507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62788F"/>
                </a:solidFill>
                <a:latin typeface="Arial"/>
                <a:ea typeface="Microsoft YaHei"/>
              </a:rPr>
              <a:t>worker 0</a:t>
            </a:r>
          </a:p>
        </p:txBody>
      </p:sp>
      <p:sp>
        <p:nvSpPr>
          <p:cNvPr id="65" name="形状 work-track"/>
          <p:cNvSpPr/>
          <p:nvPr/>
        </p:nvSpPr>
        <p:spPr>
          <a:xfrm>
            <a:off x="8394192" y="3503009"/>
            <a:ext cx="5532120" cy="274320"/>
          </a:xfrm>
          <a:prstGeom prst="roundRect">
            <a:avLst>
              <a:gd name="adj" fmla="val 16666"/>
            </a:avLst>
          </a:prstGeom>
          <a:solidFill>
            <a:srgbClr val="E5EC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形状 job"/>
          <p:cNvSpPr/>
          <p:nvPr/>
        </p:nvSpPr>
        <p:spPr>
          <a:xfrm>
            <a:off x="8394192" y="3503009"/>
            <a:ext cx="1843944" cy="274320"/>
          </a:xfrm>
          <a:prstGeom prst="rect">
            <a:avLst/>
          </a:prstGeom>
          <a:solidFill>
            <a:srgbClr val="8CAE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0238136" y="3503009"/>
            <a:ext cx="0" cy="274320"/>
          </a:xfrm>
          <a:prstGeom prst="line">
            <a:avLst/>
          </a:prstGeom>
          <a:ln w="18288">
            <a:solidFill>
              <a:srgbClr val="F3F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文字 任务 A"/>
          <p:cNvSpPr txBox="1"/>
          <p:nvPr/>
        </p:nvSpPr>
        <p:spPr>
          <a:xfrm>
            <a:off x="9133998" y="3574332"/>
            <a:ext cx="39162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234C87"/>
                </a:solidFill>
                <a:latin typeface="Microsoft YaHei"/>
                <a:ea typeface="Microsoft YaHei"/>
              </a:rPr>
              <a:t>任务 A</a:t>
            </a:r>
          </a:p>
        </p:txBody>
      </p:sp>
      <p:sp>
        <p:nvSpPr>
          <p:cNvPr id="69" name="形状 job"/>
          <p:cNvSpPr/>
          <p:nvPr/>
        </p:nvSpPr>
        <p:spPr>
          <a:xfrm>
            <a:off x="10238136" y="3503009"/>
            <a:ext cx="1843944" cy="274320"/>
          </a:xfrm>
          <a:prstGeom prst="rect">
            <a:avLst/>
          </a:prstGeom>
          <a:solidFill>
            <a:srgbClr val="8CAE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2082081" y="3503009"/>
            <a:ext cx="0" cy="274320"/>
          </a:xfrm>
          <a:prstGeom prst="line">
            <a:avLst/>
          </a:prstGeom>
          <a:ln w="18288">
            <a:solidFill>
              <a:srgbClr val="F3F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文字 任务 B"/>
          <p:cNvSpPr txBox="1"/>
          <p:nvPr/>
        </p:nvSpPr>
        <p:spPr>
          <a:xfrm>
            <a:off x="10978372" y="3574332"/>
            <a:ext cx="390763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234C87"/>
                </a:solidFill>
                <a:latin typeface="Microsoft YaHei"/>
                <a:ea typeface="Microsoft YaHei"/>
              </a:rPr>
              <a:t>任务 B</a:t>
            </a:r>
          </a:p>
        </p:txBody>
      </p:sp>
      <p:sp>
        <p:nvSpPr>
          <p:cNvPr id="72" name="形状 job"/>
          <p:cNvSpPr/>
          <p:nvPr/>
        </p:nvSpPr>
        <p:spPr>
          <a:xfrm>
            <a:off x="12082081" y="3503009"/>
            <a:ext cx="1843944" cy="274320"/>
          </a:xfrm>
          <a:prstGeom prst="rect">
            <a:avLst/>
          </a:prstGeom>
          <a:solidFill>
            <a:srgbClr val="8CAE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13926026" y="3503009"/>
            <a:ext cx="0" cy="274320"/>
          </a:xfrm>
          <a:prstGeom prst="line">
            <a:avLst/>
          </a:prstGeom>
          <a:ln w="18288">
            <a:solidFill>
              <a:srgbClr val="F3F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文字 任务 C"/>
          <p:cNvSpPr txBox="1"/>
          <p:nvPr/>
        </p:nvSpPr>
        <p:spPr>
          <a:xfrm>
            <a:off x="12822602" y="3574332"/>
            <a:ext cx="390191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234C87"/>
                </a:solidFill>
                <a:latin typeface="Microsoft YaHei"/>
                <a:ea typeface="Microsoft YaHei"/>
              </a:rPr>
              <a:t>任务 C</a:t>
            </a:r>
          </a:p>
        </p:txBody>
      </p:sp>
      <p:sp>
        <p:nvSpPr>
          <p:cNvPr id="75" name="文字 worker 1"/>
          <p:cNvSpPr txBox="1"/>
          <p:nvPr/>
        </p:nvSpPr>
        <p:spPr>
          <a:xfrm>
            <a:off x="7644383" y="3912660"/>
            <a:ext cx="63507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62788F"/>
                </a:solidFill>
                <a:latin typeface="Arial"/>
                <a:ea typeface="Microsoft YaHei"/>
              </a:rPr>
              <a:t>worker 1</a:t>
            </a:r>
          </a:p>
        </p:txBody>
      </p:sp>
      <p:sp>
        <p:nvSpPr>
          <p:cNvPr id="76" name="形状 work-track"/>
          <p:cNvSpPr/>
          <p:nvPr/>
        </p:nvSpPr>
        <p:spPr>
          <a:xfrm>
            <a:off x="8394192" y="3850481"/>
            <a:ext cx="5532120" cy="274320"/>
          </a:xfrm>
          <a:prstGeom prst="roundRect">
            <a:avLst>
              <a:gd name="adj" fmla="val 16666"/>
            </a:avLst>
          </a:prstGeom>
          <a:solidFill>
            <a:srgbClr val="E5EC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形状 job alt"/>
          <p:cNvSpPr/>
          <p:nvPr/>
        </p:nvSpPr>
        <p:spPr>
          <a:xfrm>
            <a:off x="8394192" y="3850481"/>
            <a:ext cx="1843944" cy="274320"/>
          </a:xfrm>
          <a:prstGeom prst="rect">
            <a:avLst/>
          </a:prstGeom>
          <a:solidFill>
            <a:srgbClr val="C0D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0238136" y="3850481"/>
            <a:ext cx="0" cy="274320"/>
          </a:xfrm>
          <a:prstGeom prst="line">
            <a:avLst/>
          </a:prstGeom>
          <a:ln w="18288">
            <a:solidFill>
              <a:srgbClr val="F3F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文字 任务 D"/>
          <p:cNvSpPr txBox="1"/>
          <p:nvPr/>
        </p:nvSpPr>
        <p:spPr>
          <a:xfrm>
            <a:off x="9130998" y="3921804"/>
            <a:ext cx="397621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234C87"/>
                </a:solidFill>
                <a:latin typeface="Microsoft YaHei"/>
                <a:ea typeface="Microsoft YaHei"/>
              </a:rPr>
              <a:t>任务 D</a:t>
            </a:r>
          </a:p>
        </p:txBody>
      </p:sp>
      <p:sp>
        <p:nvSpPr>
          <p:cNvPr id="80" name="形状 idle"/>
          <p:cNvSpPr/>
          <p:nvPr/>
        </p:nvSpPr>
        <p:spPr>
          <a:xfrm>
            <a:off x="10238136" y="3850481"/>
            <a:ext cx="3688175" cy="274320"/>
          </a:xfrm>
          <a:prstGeom prst="rect">
            <a:avLst/>
          </a:prstGeom>
          <a:pattFill prst="ltDnDiag">
            <a:fgClr>
              <a:srgbClr val="E8EDF2"/>
            </a:fgClr>
            <a:bgClr>
              <a:srgbClr val="F1F4F7"/>
            </a:bgClr>
          </a:patt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文字 空闲 / 等待"/>
          <p:cNvSpPr txBox="1"/>
          <p:nvPr/>
        </p:nvSpPr>
        <p:spPr>
          <a:xfrm>
            <a:off x="11813762" y="3926376"/>
            <a:ext cx="582644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8B98A6"/>
                </a:solidFill>
                <a:latin typeface="Microsoft YaHei"/>
                <a:ea typeface="Microsoft YaHei"/>
              </a:rPr>
              <a:t>空闲 / 等待</a:t>
            </a:r>
          </a:p>
        </p:txBody>
      </p:sp>
      <p:sp>
        <p:nvSpPr>
          <p:cNvPr id="82" name="文字 worker 2"/>
          <p:cNvSpPr txBox="1"/>
          <p:nvPr/>
        </p:nvSpPr>
        <p:spPr>
          <a:xfrm>
            <a:off x="7644383" y="4260132"/>
            <a:ext cx="63507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62788F"/>
                </a:solidFill>
                <a:latin typeface="Arial"/>
                <a:ea typeface="Microsoft YaHei"/>
              </a:rPr>
              <a:t>worker 2</a:t>
            </a:r>
          </a:p>
        </p:txBody>
      </p:sp>
      <p:sp>
        <p:nvSpPr>
          <p:cNvPr id="83" name="形状 work-track"/>
          <p:cNvSpPr/>
          <p:nvPr/>
        </p:nvSpPr>
        <p:spPr>
          <a:xfrm>
            <a:off x="8394192" y="4197953"/>
            <a:ext cx="5532120" cy="274320"/>
          </a:xfrm>
          <a:prstGeom prst="roundRect">
            <a:avLst>
              <a:gd name="adj" fmla="val 16666"/>
            </a:avLst>
          </a:prstGeom>
          <a:solidFill>
            <a:srgbClr val="E5EC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形状 job alt"/>
          <p:cNvSpPr/>
          <p:nvPr/>
        </p:nvSpPr>
        <p:spPr>
          <a:xfrm>
            <a:off x="8394192" y="4197953"/>
            <a:ext cx="921972" cy="274320"/>
          </a:xfrm>
          <a:prstGeom prst="rect">
            <a:avLst/>
          </a:prstGeom>
          <a:solidFill>
            <a:srgbClr val="C0D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316164" y="4197953"/>
            <a:ext cx="0" cy="274320"/>
          </a:xfrm>
          <a:prstGeom prst="line">
            <a:avLst/>
          </a:prstGeom>
          <a:ln w="18288">
            <a:solidFill>
              <a:srgbClr val="F3F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文字 E"/>
          <p:cNvSpPr txBox="1"/>
          <p:nvPr/>
        </p:nvSpPr>
        <p:spPr>
          <a:xfrm>
            <a:off x="8812672" y="4260132"/>
            <a:ext cx="11229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234C87"/>
                </a:solidFill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87" name="形状 job alt"/>
          <p:cNvSpPr/>
          <p:nvPr/>
        </p:nvSpPr>
        <p:spPr>
          <a:xfrm>
            <a:off x="9316164" y="4197953"/>
            <a:ext cx="921972" cy="274320"/>
          </a:xfrm>
          <a:prstGeom prst="rect">
            <a:avLst/>
          </a:prstGeom>
          <a:solidFill>
            <a:srgbClr val="C0D2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10238136" y="4197953"/>
            <a:ext cx="0" cy="274320"/>
          </a:xfrm>
          <a:prstGeom prst="line">
            <a:avLst/>
          </a:prstGeom>
          <a:ln w="18288">
            <a:solidFill>
              <a:srgbClr val="F3F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文字 F"/>
          <p:cNvSpPr txBox="1"/>
          <p:nvPr/>
        </p:nvSpPr>
        <p:spPr>
          <a:xfrm>
            <a:off x="9735359" y="4260132"/>
            <a:ext cx="111013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234C87"/>
                </a:solidFill>
                <a:latin typeface="Microsoft YaHei"/>
                <a:ea typeface="Microsoft YaHei"/>
              </a:rPr>
              <a:t>F</a:t>
            </a:r>
          </a:p>
        </p:txBody>
      </p:sp>
      <p:sp>
        <p:nvSpPr>
          <p:cNvPr id="90" name="形状 idle"/>
          <p:cNvSpPr/>
          <p:nvPr/>
        </p:nvSpPr>
        <p:spPr>
          <a:xfrm>
            <a:off x="10238136" y="4197953"/>
            <a:ext cx="3688175" cy="274320"/>
          </a:xfrm>
          <a:prstGeom prst="rect">
            <a:avLst/>
          </a:prstGeom>
          <a:pattFill prst="ltDnDiag">
            <a:fgClr>
              <a:srgbClr val="E8EDF2"/>
            </a:fgClr>
            <a:bgClr>
              <a:srgbClr val="F1F4F7"/>
            </a:bgClr>
          </a:patt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文字 空闲 / 等待"/>
          <p:cNvSpPr txBox="1"/>
          <p:nvPr/>
        </p:nvSpPr>
        <p:spPr>
          <a:xfrm>
            <a:off x="11813762" y="4273848"/>
            <a:ext cx="582644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8B98A6"/>
                </a:solidFill>
                <a:latin typeface="Microsoft YaHei"/>
                <a:ea typeface="Microsoft YaHei"/>
              </a:rPr>
              <a:t>空闲 / 等待</a:t>
            </a:r>
          </a:p>
        </p:txBody>
      </p:sp>
      <p:sp>
        <p:nvSpPr>
          <p:cNvPr id="92" name="文字 省下任务交接，同时可能增加负载不均和内部等待；"/>
          <p:cNvSpPr txBox="1"/>
          <p:nvPr/>
        </p:nvSpPr>
        <p:spPr>
          <a:xfrm>
            <a:off x="7644383" y="4630464"/>
            <a:ext cx="3410712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596F8B"/>
                </a:solidFill>
                <a:latin typeface="Microsoft YaHei"/>
                <a:ea typeface="Microsoft YaHei"/>
              </a:rPr>
              <a:t>省下任务交接，同时可能增加负载不均和内部等待；</a:t>
            </a:r>
          </a:p>
        </p:txBody>
      </p:sp>
      <p:sp>
        <p:nvSpPr>
          <p:cNvPr id="93" name="文字 减少调度开销，并不等于完整 L1 更短。"/>
          <p:cNvSpPr txBox="1"/>
          <p:nvPr/>
        </p:nvSpPr>
        <p:spPr>
          <a:xfrm>
            <a:off x="7644383" y="4857207"/>
            <a:ext cx="2615041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596F8B"/>
                </a:solidFill>
                <a:latin typeface="Microsoft YaHei"/>
                <a:ea typeface="Microsoft YaHei"/>
              </a:rPr>
              <a:t>减少调度开销，并不等于完整 L1 更短。</a:t>
            </a:r>
          </a:p>
        </p:txBody>
      </p:sp>
      <p:sp>
        <p:nvSpPr>
          <p:cNvPr id="94" name="形状 decision"/>
          <p:cNvSpPr/>
          <p:nvPr/>
        </p:nvSpPr>
        <p:spPr>
          <a:xfrm>
            <a:off x="475488" y="5281517"/>
            <a:ext cx="4238101" cy="1399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144">
            <a:solidFill>
              <a:srgbClr val="D3DF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标题 动态计算 ≠ 动态调度"/>
          <p:cNvSpPr txBox="1"/>
          <p:nvPr/>
        </p:nvSpPr>
        <p:spPr>
          <a:xfrm>
            <a:off x="667512" y="5467140"/>
            <a:ext cx="1787509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动态计算 ≠ 动态调度</a:t>
            </a:r>
          </a:p>
        </p:txBody>
      </p:sp>
      <p:sp>
        <p:nvSpPr>
          <p:cNvPr id="96" name="文字 单 SPMD 可保留动态长度、索引和循环。"/>
          <p:cNvSpPr txBox="1"/>
          <p:nvPr/>
        </p:nvSpPr>
        <p:spPr>
          <a:xfrm>
            <a:off x="667512" y="5814612"/>
            <a:ext cx="2703909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5778D"/>
                </a:solidFill>
                <a:latin typeface="Microsoft YaHei"/>
                <a:ea typeface="Microsoft YaHei"/>
              </a:rPr>
              <a:t>单 SPMD 可保留动态长度、索引和循环。</a:t>
            </a:r>
          </a:p>
        </p:txBody>
      </p:sp>
      <p:sp>
        <p:nvSpPr>
          <p:cNvPr id="97" name="文字 运行时将就绪任务重新分配给空闲核，"/>
          <p:cNvSpPr txBox="1"/>
          <p:nvPr/>
        </p:nvSpPr>
        <p:spPr>
          <a:xfrm>
            <a:off x="667512" y="6048641"/>
            <a:ext cx="253288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5778D"/>
                </a:solidFill>
                <a:latin typeface="Microsoft YaHei"/>
                <a:ea typeface="Microsoft YaHei"/>
              </a:rPr>
              <a:t>运行时将就绪任务重新分配给空闲核，</a:t>
            </a:r>
          </a:p>
        </p:txBody>
      </p:sp>
      <p:sp>
        <p:nvSpPr>
          <p:cNvPr id="98" name="文字 是另一项调度能力。"/>
          <p:cNvSpPr txBox="1"/>
          <p:nvPr/>
        </p:nvSpPr>
        <p:spPr>
          <a:xfrm>
            <a:off x="667512" y="6282670"/>
            <a:ext cx="1362456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5778D"/>
                </a:solidFill>
                <a:latin typeface="Microsoft YaHei"/>
                <a:ea typeface="Microsoft YaHei"/>
              </a:rPr>
              <a:t>是另一项调度能力。</a:t>
            </a:r>
          </a:p>
        </p:txBody>
      </p:sp>
      <p:sp>
        <p:nvSpPr>
          <p:cNvPr id="99" name="形状 decision"/>
          <p:cNvSpPr/>
          <p:nvPr/>
        </p:nvSpPr>
        <p:spPr>
          <a:xfrm>
            <a:off x="4878181" y="5281517"/>
            <a:ext cx="4238101" cy="139903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144">
            <a:solidFill>
              <a:srgbClr val="D3DF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标题 从 CSA 扩展到 Attention"/>
          <p:cNvSpPr txBox="1"/>
          <p:nvPr/>
        </p:nvSpPr>
        <p:spPr>
          <a:xfrm>
            <a:off x="5070205" y="5467140"/>
            <a:ext cx="2202561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从 CSA 扩展到 Attention</a:t>
            </a:r>
          </a:p>
        </p:txBody>
      </p:sp>
      <p:sp>
        <p:nvSpPr>
          <p:cNvPr id="101" name="文字 遇到变长、稀疏和数据相关的工作量，"/>
          <p:cNvSpPr txBox="1"/>
          <p:nvPr/>
        </p:nvSpPr>
        <p:spPr>
          <a:xfrm>
            <a:off x="5070205" y="5814612"/>
            <a:ext cx="253288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5778D"/>
                </a:solidFill>
                <a:latin typeface="Microsoft YaHei"/>
                <a:ea typeface="Microsoft YaHei"/>
              </a:rPr>
              <a:t>遇到变长、稀疏和数据相关的工作量，</a:t>
            </a:r>
          </a:p>
        </p:txBody>
      </p:sp>
      <p:sp>
        <p:nvSpPr>
          <p:cNvPr id="102" name="文字 MPMD 可能更适合保持负载均衡。"/>
          <p:cNvSpPr txBox="1"/>
          <p:nvPr/>
        </p:nvSpPr>
        <p:spPr>
          <a:xfrm>
            <a:off x="5070205" y="6048641"/>
            <a:ext cx="2278427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5778D"/>
                </a:solidFill>
                <a:latin typeface="Microsoft YaHei"/>
                <a:ea typeface="Microsoft YaHei"/>
              </a:rPr>
              <a:t>MPMD 可能更适合保持负载均衡。</a:t>
            </a:r>
          </a:p>
        </p:txBody>
      </p:sp>
      <p:sp>
        <p:nvSpPr>
          <p:cNvPr id="103" name="文字 最终仍须在目标场景实测比较。"/>
          <p:cNvSpPr txBox="1"/>
          <p:nvPr/>
        </p:nvSpPr>
        <p:spPr>
          <a:xfrm>
            <a:off x="5070205" y="6282670"/>
            <a:ext cx="2093976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5778D"/>
                </a:solidFill>
                <a:latin typeface="Microsoft YaHei"/>
                <a:ea typeface="Microsoft YaHei"/>
              </a:rPr>
              <a:t>最终仍须在目标场景实测比较。</a:t>
            </a:r>
          </a:p>
        </p:txBody>
      </p:sp>
      <p:sp>
        <p:nvSpPr>
          <p:cNvPr id="104" name="形状 decision engine-choice"/>
          <p:cNvSpPr/>
          <p:nvPr/>
        </p:nvSpPr>
        <p:spPr>
          <a:xfrm>
            <a:off x="9280874" y="5281517"/>
            <a:ext cx="4873894" cy="1399032"/>
          </a:xfrm>
          <a:prstGeom prst="roundRect">
            <a:avLst>
              <a:gd name="adj" fmla="val 5882"/>
            </a:avLst>
          </a:prstGeom>
          <a:solidFill>
            <a:srgbClr val="EAF1FC"/>
          </a:solidFill>
          <a:ln w="9144">
            <a:solidFill>
              <a:srgbClr val="C6D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标题 AOT / 常驻执行仍是一种选择"/>
          <p:cNvSpPr txBox="1"/>
          <p:nvPr/>
        </p:nvSpPr>
        <p:spPr>
          <a:xfrm>
            <a:off x="9472898" y="5467140"/>
            <a:ext cx="2512885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AOT / 常驻执行仍是一种选择</a:t>
            </a:r>
          </a:p>
        </p:txBody>
      </p:sp>
      <p:sp>
        <p:nvSpPr>
          <p:cNvPr id="106" name="文字 稳定子图可继续扩大并固化为 Engine Kernel；"/>
          <p:cNvSpPr txBox="1"/>
          <p:nvPr/>
        </p:nvSpPr>
        <p:spPr>
          <a:xfrm>
            <a:off x="9472898" y="5814612"/>
            <a:ext cx="3035236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5778D"/>
                </a:solidFill>
                <a:latin typeface="Microsoft YaHei"/>
                <a:ea typeface="Microsoft YaHei"/>
              </a:rPr>
              <a:t>稳定子图可继续扩大并固化为 Engine Kernel；</a:t>
            </a:r>
          </a:p>
        </p:txBody>
      </p:sp>
      <p:sp>
        <p:nvSpPr>
          <p:cNvPr id="107" name="文字 需要动态平衡的区域，也可保留 MPMD。"/>
          <p:cNvSpPr txBox="1"/>
          <p:nvPr/>
        </p:nvSpPr>
        <p:spPr>
          <a:xfrm>
            <a:off x="9472898" y="6048641"/>
            <a:ext cx="2717339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5778D"/>
                </a:solidFill>
                <a:latin typeface="Microsoft YaHei"/>
                <a:ea typeface="Microsoft YaHei"/>
              </a:rPr>
              <a:t>需要动态平衡的区域，也可保留 MPMD。</a:t>
            </a:r>
          </a:p>
        </p:txBody>
      </p:sp>
      <p:sp>
        <p:nvSpPr>
          <p:cNvPr id="108" name="文字 静态化范围由收益和动态性需求共同决定。"/>
          <p:cNvSpPr txBox="1"/>
          <p:nvPr/>
        </p:nvSpPr>
        <p:spPr>
          <a:xfrm>
            <a:off x="9472898" y="6282670"/>
            <a:ext cx="2825496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5778D"/>
                </a:solidFill>
                <a:latin typeface="Microsoft YaHei"/>
                <a:ea typeface="Microsoft YaHei"/>
              </a:rPr>
              <a:t>静态化范围由收益和动态性需求共同决定。</a:t>
            </a:r>
          </a:p>
        </p:txBody>
      </p:sp>
      <p:sp>
        <p:nvSpPr>
          <p:cNvPr id="109" name="形状 decision-band"/>
          <p:cNvSpPr/>
          <p:nvPr/>
        </p:nvSpPr>
        <p:spPr>
          <a:xfrm>
            <a:off x="475488" y="6835997"/>
            <a:ext cx="13679424" cy="562356"/>
          </a:xfrm>
          <a:prstGeom prst="roundRect">
            <a:avLst>
              <a:gd name="adj" fmla="val 14634"/>
            </a:avLst>
          </a:prstGeom>
          <a:solidFill>
            <a:srgbClr val="203E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文字 动态负载均衡收益"/>
          <p:cNvSpPr txBox="1"/>
          <p:nvPr/>
        </p:nvSpPr>
        <p:spPr>
          <a:xfrm>
            <a:off x="658368" y="6994188"/>
            <a:ext cx="1581912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B7E7D4"/>
                </a:solidFill>
                <a:latin typeface="Microsoft YaHei"/>
                <a:ea typeface="Microsoft YaHei"/>
              </a:rPr>
              <a:t>动态负载均衡收益</a:t>
            </a:r>
          </a:p>
        </p:txBody>
      </p:sp>
      <p:sp>
        <p:nvSpPr>
          <p:cNvPr id="111" name="文字 与"/>
          <p:cNvSpPr txBox="1"/>
          <p:nvPr/>
        </p:nvSpPr>
        <p:spPr>
          <a:xfrm>
            <a:off x="2244423" y="6994188"/>
            <a:ext cx="237886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 lang="zh-CN" dirty="0">
                <a:solidFill>
                  <a:srgbClr val="F5F9FF"/>
                </a:solidFill>
                <a:latin typeface="Microsoft YaHei"/>
                <a:ea typeface="Microsoft YaHei"/>
              </a:rPr>
              <a:t>与</a:t>
            </a:r>
          </a:p>
        </p:txBody>
      </p:sp>
      <p:sp>
        <p:nvSpPr>
          <p:cNvPr id="112" name="文字 任务派发成本"/>
          <p:cNvSpPr txBox="1"/>
          <p:nvPr/>
        </p:nvSpPr>
        <p:spPr>
          <a:xfrm>
            <a:off x="2486453" y="6994188"/>
            <a:ext cx="1197864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B7E7D4"/>
                </a:solidFill>
                <a:latin typeface="Microsoft YaHei"/>
                <a:ea typeface="Microsoft YaHei"/>
              </a:rPr>
              <a:t>任务派发成本</a:t>
            </a:r>
          </a:p>
        </p:txBody>
      </p:sp>
      <p:sp>
        <p:nvSpPr>
          <p:cNvPr id="113" name="文字 的权衡，决定保留 MPMD，还是蒸馏为单 SPMD。"/>
          <p:cNvSpPr txBox="1"/>
          <p:nvPr/>
        </p:nvSpPr>
        <p:spPr>
          <a:xfrm>
            <a:off x="3688461" y="6994188"/>
            <a:ext cx="4302823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 lang="zh-CN" dirty="0">
                <a:solidFill>
                  <a:srgbClr val="F5F9FF"/>
                </a:solidFill>
                <a:latin typeface="Microsoft YaHei"/>
                <a:ea typeface="Microsoft YaHei"/>
              </a:rPr>
              <a:t>的权衡，决定保留 MPMD，还是蒸馏为单 SPMD。</a:t>
            </a:r>
          </a:p>
        </p:txBody>
      </p:sp>
      <p:sp>
        <p:nvSpPr>
          <p:cNvPr id="114" name="形状 "/>
          <p:cNvSpPr/>
          <p:nvPr/>
        </p:nvSpPr>
        <p:spPr>
          <a:xfrm>
            <a:off x="475488" y="7772400"/>
            <a:ext cx="13679424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475488" y="7772400"/>
            <a:ext cx="13679424" cy="0"/>
          </a:xfrm>
          <a:prstGeom prst="line">
            <a:avLst/>
          </a:prstGeom>
          <a:ln w="9144">
            <a:solidFill>
              <a:srgbClr val="DC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文字 两侧使用同一组 A–F 工作量，仅示意固定归属可能造成的长尾，非实测泳道。MPMD 按就绪任务派发，不表示可抢占已运行的 task。"/>
          <p:cNvSpPr txBox="1"/>
          <p:nvPr/>
        </p:nvSpPr>
        <p:spPr>
          <a:xfrm>
            <a:off x="475488" y="7894015"/>
            <a:ext cx="6459950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A889A"/>
                </a:solidFill>
                <a:latin typeface="Microsoft YaHei"/>
                <a:ea typeface="Microsoft YaHei"/>
              </a:rPr>
              <a:t>两侧使用同一组 A–F 工作量，仅示意固定归属可能造成的长尾，非实测泳道。MPMD 按就绪任务派发，不表示可抢占已运行的 task。</a:t>
            </a:r>
          </a:p>
        </p:txBody>
      </p:sp>
      <p:sp>
        <p:nvSpPr>
          <p:cNvPr id="117" name="文字 来源见备注"/>
          <p:cNvSpPr txBox="1"/>
          <p:nvPr/>
        </p:nvSpPr>
        <p:spPr>
          <a:xfrm>
            <a:off x="12301823" y="7903159"/>
            <a:ext cx="688800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536D94"/>
                </a:solidFill>
                <a:latin typeface="Microsoft YaHei"/>
                <a:ea typeface="Microsoft YaHei"/>
              </a:rPr>
              <a:t>来源见备注</a:t>
            </a:r>
          </a:p>
        </p:txBody>
      </p:sp>
      <p:sp>
        <p:nvSpPr>
          <p:cNvPr id="118" name="文字 查看实测 →">
            <a:hlinkClick action="ppaction://hlinksldjump" r:id="rId2"/>
          </p:cNvPr>
          <p:cNvSpPr txBox="1"/>
          <p:nvPr/>
        </p:nvSpPr>
        <p:spPr>
          <a:xfrm>
            <a:off x="13100351" y="7903159"/>
            <a:ext cx="605075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536D94"/>
                </a:solidFill>
                <a:latin typeface="Microsoft YaHei"/>
                <a:ea typeface="Microsoft YaHei"/>
              </a:rPr>
              <a:t>查看实测 →</a:t>
            </a:r>
          </a:p>
        </p:txBody>
      </p:sp>
      <p:sp>
        <p:nvSpPr>
          <p:cNvPr id="119" name="文字 03 / 04"/>
          <p:cNvSpPr txBox="1"/>
          <p:nvPr/>
        </p:nvSpPr>
        <p:spPr>
          <a:xfrm>
            <a:off x="13815155" y="7894015"/>
            <a:ext cx="38547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A889A"/>
                </a:solidFill>
                <a:latin typeface="Microsoft YaHei"/>
                <a:ea typeface="Microsoft YaHei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1 实测：MPMD 与单 SPMD 各有更合适的场景"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形状 顶部色条"/>
          <p:cNvSpPr/>
          <p:nvPr/>
        </p:nvSpPr>
        <p:spPr>
          <a:xfrm>
            <a:off x="0" y="0"/>
            <a:ext cx="9363456" cy="54864"/>
          </a:xfrm>
          <a:prstGeom prst="rect">
            <a:avLst/>
          </a:prstGeom>
          <a:solidFill>
            <a:srgbClr val="245B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形状 顶部色条"/>
          <p:cNvSpPr/>
          <p:nvPr/>
        </p:nvSpPr>
        <p:spPr>
          <a:xfrm>
            <a:off x="9363456" y="0"/>
            <a:ext cx="5266944" cy="54864"/>
          </a:xfrm>
          <a:prstGeom prst="rect">
            <a:avLst/>
          </a:prstGeom>
          <a:solidFill>
            <a:srgbClr val="0879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文字 CSA"/>
          <p:cNvSpPr txBox="1"/>
          <p:nvPr/>
        </p:nvSpPr>
        <p:spPr>
          <a:xfrm>
            <a:off x="475488" y="304495"/>
            <a:ext cx="3270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lang="zh-CN" dirty="0" spc="86">
                <a:solidFill>
                  <a:srgbClr val="245BD6"/>
                </a:solidFill>
                <a:latin typeface="Microsoft YaHei"/>
                <a:ea typeface="Microsoft YaHei"/>
              </a:rPr>
              <a:t>CSA</a:t>
            </a:r>
          </a:p>
        </p:txBody>
      </p:sp>
      <p:sp>
        <p:nvSpPr>
          <p:cNvPr id="5" name="文字 /"/>
          <p:cNvSpPr txBox="1"/>
          <p:nvPr/>
        </p:nvSpPr>
        <p:spPr>
          <a:xfrm>
            <a:off x="875680" y="304495"/>
            <a:ext cx="10615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 spc="72">
                <a:solidFill>
                  <a:srgbClr val="B5C3D4"/>
                </a:solidFill>
                <a:latin typeface="Microsoft YaHei"/>
                <a:ea typeface="Microsoft YaHei"/>
              </a:rPr>
              <a:t>/</a:t>
            </a:r>
          </a:p>
        </p:txBody>
      </p:sp>
      <p:sp>
        <p:nvSpPr>
          <p:cNvPr id="6" name="文字 正式版本的代表性实测"/>
          <p:cNvSpPr txBox="1"/>
          <p:nvPr/>
        </p:nvSpPr>
        <p:spPr>
          <a:xfrm>
            <a:off x="1054989" y="304495"/>
            <a:ext cx="15087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 spc="72">
                <a:solidFill>
                  <a:srgbClr val="607286"/>
                </a:solidFill>
                <a:latin typeface="Microsoft YaHei"/>
                <a:ea typeface="Microsoft YaHei"/>
              </a:rPr>
              <a:t>正式版本的代表性实测</a:t>
            </a:r>
          </a:p>
        </p:txBody>
      </p:sp>
      <p:sp>
        <p:nvSpPr>
          <p:cNvPr id="7" name="文字 01 均衡与蒸馏"/>
          <p:cNvSpPr txBox="1"/>
          <p:nvPr/>
        </p:nvSpPr>
        <p:spPr>
          <a:xfrm>
            <a:off x="9913667" y="318211"/>
            <a:ext cx="80195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01 均衡与蒸馏</a:t>
            </a:r>
          </a:p>
        </p:txBody>
      </p:sp>
      <p:sp>
        <p:nvSpPr>
          <p:cNvPr id="8" name="文字 02 ACLNN 与 SuperKernel"/>
          <p:cNvSpPr txBox="1"/>
          <p:nvPr/>
        </p:nvSpPr>
        <p:spPr>
          <a:xfrm>
            <a:off x="10816209" y="318211"/>
            <a:ext cx="141932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02 ACLNN 与 SuperKernel</a:t>
            </a:r>
          </a:p>
        </p:txBody>
      </p:sp>
      <p:sp>
        <p:nvSpPr>
          <p:cNvPr id="9" name="文字 03 动态负载权衡"/>
          <p:cNvSpPr txBox="1"/>
          <p:nvPr/>
        </p:nvSpPr>
        <p:spPr>
          <a:xfrm>
            <a:off x="12336113" y="318211"/>
            <a:ext cx="92082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03 动态负载权衡</a:t>
            </a:r>
          </a:p>
        </p:txBody>
      </p:sp>
      <p:sp>
        <p:nvSpPr>
          <p:cNvPr id="10" name="文字 04 L1 实测证据"/>
          <p:cNvSpPr txBox="1"/>
          <p:nvPr/>
        </p:nvSpPr>
        <p:spPr>
          <a:xfrm>
            <a:off x="13357526" y="318211"/>
            <a:ext cx="843105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 lang="zh-CN" dirty="0">
                <a:solidFill>
                  <a:srgbClr val="245BD6"/>
                </a:solidFill>
                <a:latin typeface="Microsoft YaHei"/>
                <a:ea typeface="Microsoft YaHei"/>
              </a:rPr>
              <a:t>04 L1 实测证据</a:t>
            </a:r>
          </a:p>
        </p:txBody>
      </p:sp>
      <p:sp>
        <p:nvSpPr>
          <p:cNvPr id="11" name="标题 L1 实测："/>
          <p:cNvSpPr txBox="1"/>
          <p:nvPr/>
        </p:nvSpPr>
        <p:spPr>
          <a:xfrm>
            <a:off x="475488" y="651967"/>
            <a:ext cx="1659921" cy="466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 lang="zh-CN" dirty="0" spc="-72">
                <a:solidFill>
                  <a:srgbClr val="142C45"/>
                </a:solidFill>
                <a:latin typeface="Microsoft YaHei"/>
                <a:ea typeface="Microsoft YaHei"/>
              </a:rPr>
              <a:t>L1 实测：</a:t>
            </a:r>
          </a:p>
        </p:txBody>
      </p:sp>
      <p:sp>
        <p:nvSpPr>
          <p:cNvPr id="12" name="标题 MPMD 与单 SPMD 各有更合适的场景"/>
          <p:cNvSpPr txBox="1"/>
          <p:nvPr/>
        </p:nvSpPr>
        <p:spPr>
          <a:xfrm>
            <a:off x="2089689" y="651967"/>
            <a:ext cx="6244066" cy="466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1" i="0" lang="zh-CN" dirty="0" spc="-72">
                <a:solidFill>
                  <a:srgbClr val="245BD6"/>
                </a:solidFill>
                <a:latin typeface="Microsoft YaHei"/>
                <a:ea typeface="Microsoft YaHei"/>
              </a:rPr>
              <a:t>MPMD 与单 SPMD 各有更合适的场景</a:t>
            </a:r>
          </a:p>
        </p:txBody>
      </p:sp>
      <p:sp>
        <p:nvSpPr>
          <p:cNvPr id="13" name="文字 选取"/>
          <p:cNvSpPr txBox="1"/>
          <p:nvPr/>
        </p:nvSpPr>
        <p:spPr>
          <a:xfrm>
            <a:off x="475488" y="1242612"/>
            <a:ext cx="41148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选取</a:t>
            </a:r>
          </a:p>
        </p:txBody>
      </p:sp>
      <p:sp>
        <p:nvSpPr>
          <p:cNvPr id="14" name="文字 19a20480"/>
          <p:cNvSpPr txBox="1"/>
          <p:nvPr/>
        </p:nvSpPr>
        <p:spPr>
          <a:xfrm>
            <a:off x="888825" y="1242612"/>
            <a:ext cx="847963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dirty="0" u="none">
                <a:solidFill>
                  <a:srgbClr val="245BD6"/>
                </a:solidFill>
                <a:latin typeface="Microsoft YaHei"/>
                <a:ea typeface="Microsoft YaHei"/>
                <a:hlinkClick r:id="rId2"/>
              </a:rPr>
              <a:t>19a20480</a:t>
            </a:r>
          </a:p>
        </p:txBody>
      </p:sp>
      <p:sp>
        <p:nvSpPr>
          <p:cNvPr id="15" name="文字 同轮正式结果："/>
          <p:cNvSpPr txBox="1"/>
          <p:nvPr/>
        </p:nvSpPr>
        <p:spPr>
          <a:xfrm>
            <a:off x="1738503" y="1242612"/>
            <a:ext cx="1326022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 lang="zh-CN" dirty="0">
                <a:solidFill>
                  <a:srgbClr val="607286"/>
                </a:solidFill>
                <a:latin typeface="Microsoft YaHei"/>
                <a:ea typeface="Microsoft YaHei"/>
              </a:rPr>
              <a:t>同轮正式结果：</a:t>
            </a:r>
          </a:p>
        </p:txBody>
      </p:sp>
      <p:sp>
        <p:nvSpPr>
          <p:cNvPr id="16" name="文字 128K / B8 多 task 均值更短；128K / B16 单 SPMD 均值更短。"/>
          <p:cNvSpPr txBox="1"/>
          <p:nvPr/>
        </p:nvSpPr>
        <p:spPr>
          <a:xfrm>
            <a:off x="3018805" y="1242612"/>
            <a:ext cx="5116496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128K / B8 多 task 均值更短；128K / B16 单 SPMD 均值更短。</a:t>
            </a:r>
          </a:p>
        </p:txBody>
      </p:sp>
      <p:sp>
        <p:nvSpPr>
          <p:cNvPr id="17" name="形状 metric-scope"/>
          <p:cNvSpPr/>
          <p:nvPr/>
        </p:nvSpPr>
        <p:spPr>
          <a:xfrm>
            <a:off x="475488" y="1697069"/>
            <a:ext cx="13679424" cy="727805"/>
          </a:xfrm>
          <a:prstGeom prst="roundRect">
            <a:avLst>
              <a:gd name="adj" fmla="val 11307"/>
            </a:avLst>
          </a:prstGeom>
          <a:solidFill>
            <a:srgbClr val="EEF3FA"/>
          </a:solidFill>
          <a:ln w="9144">
            <a:solidFill>
              <a:srgbClr val="D4E0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文字 完整 AICore L1 首尾跨度"/>
          <p:cNvSpPr txBox="1"/>
          <p:nvPr/>
        </p:nvSpPr>
        <p:spPr>
          <a:xfrm>
            <a:off x="649224" y="1953987"/>
            <a:ext cx="218613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264D87"/>
                </a:solidFill>
                <a:latin typeface="Microsoft YaHei"/>
                <a:ea typeface="Microsoft YaHei"/>
              </a:rPr>
              <a:t>完整 AICore L1 首尾跨度</a:t>
            </a:r>
          </a:p>
        </p:txBody>
      </p:sp>
      <p:sp>
        <p:nvSpPr>
          <p:cNvPr id="19" name="文字 首个 incore 开始 → 最后一个 incore 结束；"/>
          <p:cNvSpPr txBox="1"/>
          <p:nvPr/>
        </p:nvSpPr>
        <p:spPr>
          <a:xfrm>
            <a:off x="2954226" y="1846116"/>
            <a:ext cx="2831353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18A"/>
                </a:solidFill>
                <a:latin typeface="Microsoft YaHei"/>
                <a:ea typeface="Microsoft YaHei"/>
              </a:rPr>
              <a:t>首个 incore 开始 → 最后一个 incore 结束；</a:t>
            </a:r>
          </a:p>
        </p:txBody>
      </p:sp>
      <p:sp>
        <p:nvSpPr>
          <p:cNvPr id="20" name="文字 保留内部任务间隙与等待"/>
          <p:cNvSpPr txBox="1"/>
          <p:nvPr/>
        </p:nvSpPr>
        <p:spPr>
          <a:xfrm>
            <a:off x="5739860" y="1846116"/>
            <a:ext cx="1655064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 lang="zh-CN" dirty="0">
                <a:solidFill>
                  <a:srgbClr val="60718A"/>
                </a:solidFill>
                <a:latin typeface="Microsoft YaHei"/>
                <a:ea typeface="Microsoft YaHei"/>
              </a:rPr>
              <a:t>保留内部任务间隙与等待</a:t>
            </a:r>
          </a:p>
        </p:txBody>
      </p:sp>
      <p:sp>
        <p:nvSpPr>
          <p:cNvPr id="21" name="文字 ，不是各核耗时求和。"/>
          <p:cNvSpPr txBox="1"/>
          <p:nvPr/>
        </p:nvSpPr>
        <p:spPr>
          <a:xfrm>
            <a:off x="7349204" y="1846116"/>
            <a:ext cx="1508760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18A"/>
                </a:solidFill>
                <a:latin typeface="Microsoft YaHei"/>
                <a:ea typeface="Microsoft YaHei"/>
              </a:rPr>
              <a:t>，不是各核耗时求和。</a:t>
            </a:r>
          </a:p>
        </p:txBody>
      </p:sp>
      <p:sp>
        <p:nvSpPr>
          <p:cNvPr id="22" name="文字 范围：HC_pre + input RMSNorm + CSA + HC_post。每档五个窗口，单位 μs，越低越好。"/>
          <p:cNvSpPr txBox="1"/>
          <p:nvPr/>
        </p:nvSpPr>
        <p:spPr>
          <a:xfrm>
            <a:off x="2954226" y="2072859"/>
            <a:ext cx="5803011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60718A"/>
                </a:solidFill>
                <a:latin typeface="Microsoft YaHei"/>
                <a:ea typeface="Microsoft YaHei"/>
              </a:rPr>
              <a:t>范围：HC_pre + input RMSNorm + CSA + HC_post。每档五个窗口，单位 μs，越低越好。</a:t>
            </a:r>
          </a:p>
        </p:txBody>
      </p:sp>
      <p:sp>
        <p:nvSpPr>
          <p:cNvPr id="23" name="形状 "/>
          <p:cNvSpPr/>
          <p:nvPr/>
        </p:nvSpPr>
        <p:spPr>
          <a:xfrm>
            <a:off x="475488" y="262604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1480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文字 MPMD 多 task（正式 plan_workers_v1）"/>
          <p:cNvSpPr txBox="1"/>
          <p:nvPr/>
        </p:nvSpPr>
        <p:spPr>
          <a:xfrm>
            <a:off x="649224" y="2592209"/>
            <a:ext cx="2681620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596E85"/>
                </a:solidFill>
                <a:latin typeface="Microsoft YaHei"/>
                <a:ea typeface="Microsoft YaHei"/>
              </a:rPr>
              <a:t>MPMD 多 task（正式 plan_workers_v1）</a:t>
            </a:r>
          </a:p>
        </p:txBody>
      </p:sp>
      <p:sp>
        <p:nvSpPr>
          <p:cNvPr id="25" name="形状 blue"/>
          <p:cNvSpPr/>
          <p:nvPr/>
        </p:nvSpPr>
        <p:spPr>
          <a:xfrm>
            <a:off x="3495436" y="262604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3768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文字 单 SPMD"/>
          <p:cNvSpPr txBox="1"/>
          <p:nvPr/>
        </p:nvSpPr>
        <p:spPr>
          <a:xfrm>
            <a:off x="3669172" y="2592209"/>
            <a:ext cx="61764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596E85"/>
                </a:solidFill>
                <a:latin typeface="Microsoft YaHei"/>
                <a:ea typeface="Microsoft YaHei"/>
              </a:rPr>
              <a:t>单 SPMD</a:t>
            </a:r>
          </a:p>
        </p:txBody>
      </p:sp>
      <p:sp>
        <p:nvSpPr>
          <p:cNvPr id="27" name="文字 条形表示本轮 mean · 两图统一 0–900 μs"/>
          <p:cNvSpPr txBox="1"/>
          <p:nvPr/>
        </p:nvSpPr>
        <p:spPr>
          <a:xfrm>
            <a:off x="11867626" y="2601353"/>
            <a:ext cx="233300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8290A2"/>
                </a:solidFill>
                <a:latin typeface="Microsoft YaHei"/>
                <a:ea typeface="Microsoft YaHei"/>
              </a:rPr>
              <a:t>条形表示本轮 mean · 两图统一 0–900 μs</a:t>
            </a:r>
          </a:p>
        </p:txBody>
      </p:sp>
      <p:sp>
        <p:nvSpPr>
          <p:cNvPr id="28" name="形状 evidence-card"/>
          <p:cNvSpPr/>
          <p:nvPr/>
        </p:nvSpPr>
        <p:spPr>
          <a:xfrm>
            <a:off x="475488" y="2891218"/>
            <a:ext cx="6739128" cy="283464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 w="9144">
            <a:solidFill>
              <a:srgbClr val="CFDE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标题 128K / B8 / S6"/>
          <p:cNvSpPr txBox="1"/>
          <p:nvPr/>
        </p:nvSpPr>
        <p:spPr>
          <a:xfrm>
            <a:off x="704088" y="3076841"/>
            <a:ext cx="157191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128K / B8 / S6</a:t>
            </a:r>
          </a:p>
        </p:txBody>
      </p:sp>
      <p:sp>
        <p:nvSpPr>
          <p:cNvPr id="30" name="形状 winner"/>
          <p:cNvSpPr/>
          <p:nvPr/>
        </p:nvSpPr>
        <p:spPr>
          <a:xfrm>
            <a:off x="5796867" y="3110674"/>
            <a:ext cx="1189148" cy="274320"/>
          </a:xfrm>
          <a:prstGeom prst="roundRect">
            <a:avLst>
              <a:gd name="adj" fmla="val 20000"/>
            </a:avLst>
          </a:prstGeom>
          <a:solidFill>
            <a:srgbClr val="E8F6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文字 多 task 均值更短"/>
          <p:cNvSpPr txBox="1"/>
          <p:nvPr/>
        </p:nvSpPr>
        <p:spPr>
          <a:xfrm>
            <a:off x="5888307" y="3168281"/>
            <a:ext cx="1051988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167257"/>
                </a:solidFill>
                <a:latin typeface="Microsoft YaHei"/>
                <a:ea typeface="Microsoft YaHei"/>
              </a:rPr>
              <a:t>多 task 均值更短</a:t>
            </a:r>
          </a:p>
        </p:txBody>
      </p:sp>
      <p:sp>
        <p:nvSpPr>
          <p:cNvPr id="32" name="文字 多 task"/>
          <p:cNvSpPr txBox="1"/>
          <p:nvPr/>
        </p:nvSpPr>
        <p:spPr>
          <a:xfrm>
            <a:off x="704088" y="3612622"/>
            <a:ext cx="46777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5D718B"/>
                </a:solidFill>
                <a:latin typeface="Microsoft YaHei"/>
                <a:ea typeface="Microsoft YaHei"/>
              </a:rPr>
              <a:t>多 task</a:t>
            </a:r>
          </a:p>
        </p:txBody>
      </p:sp>
      <p:sp>
        <p:nvSpPr>
          <p:cNvPr id="33" name="形状 bar-track"/>
          <p:cNvSpPr/>
          <p:nvPr/>
        </p:nvSpPr>
        <p:spPr>
          <a:xfrm>
            <a:off x="1527048" y="3577875"/>
            <a:ext cx="4517136" cy="228600"/>
          </a:xfrm>
          <a:prstGeom prst="roundRect">
            <a:avLst>
              <a:gd name="adj" fmla="val 20000"/>
            </a:avLst>
          </a:prstGeom>
          <a:solidFill>
            <a:srgbClr val="F0F3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形状 bar-fill"/>
          <p:cNvSpPr/>
          <p:nvPr/>
        </p:nvSpPr>
        <p:spPr>
          <a:xfrm>
            <a:off x="1527048" y="3577875"/>
            <a:ext cx="3119532" cy="228600"/>
          </a:xfrm>
          <a:prstGeom prst="roundRect">
            <a:avLst>
              <a:gd name="adj" fmla="val 20000"/>
            </a:avLst>
          </a:prstGeom>
          <a:solidFill>
            <a:srgbClr val="1480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文字 621.55"/>
          <p:cNvSpPr txBox="1"/>
          <p:nvPr/>
        </p:nvSpPr>
        <p:spPr>
          <a:xfrm>
            <a:off x="6244923" y="3570617"/>
            <a:ext cx="786812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23466D"/>
                </a:solidFill>
                <a:latin typeface="Arial"/>
                <a:ea typeface="Microsoft YaHei"/>
              </a:rPr>
              <a:t>621.55</a:t>
            </a:r>
          </a:p>
        </p:txBody>
      </p:sp>
      <p:sp>
        <p:nvSpPr>
          <p:cNvPr id="36" name="文字 单 SPMD"/>
          <p:cNvSpPr txBox="1"/>
          <p:nvPr/>
        </p:nvSpPr>
        <p:spPr>
          <a:xfrm>
            <a:off x="704088" y="3943521"/>
            <a:ext cx="581929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5D718B"/>
                </a:solidFill>
                <a:latin typeface="Microsoft YaHei"/>
                <a:ea typeface="Microsoft YaHei"/>
              </a:rPr>
              <a:t>单 SPMD</a:t>
            </a:r>
          </a:p>
        </p:txBody>
      </p:sp>
      <p:sp>
        <p:nvSpPr>
          <p:cNvPr id="37" name="形状 bar-track"/>
          <p:cNvSpPr/>
          <p:nvPr/>
        </p:nvSpPr>
        <p:spPr>
          <a:xfrm>
            <a:off x="1527048" y="3908774"/>
            <a:ext cx="4517136" cy="228600"/>
          </a:xfrm>
          <a:prstGeom prst="roundRect">
            <a:avLst>
              <a:gd name="adj" fmla="val 20000"/>
            </a:avLst>
          </a:prstGeom>
          <a:solidFill>
            <a:srgbClr val="F0F3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形状 bar-fill blue"/>
          <p:cNvSpPr/>
          <p:nvPr/>
        </p:nvSpPr>
        <p:spPr>
          <a:xfrm>
            <a:off x="1527048" y="3908774"/>
            <a:ext cx="3172253" cy="228600"/>
          </a:xfrm>
          <a:prstGeom prst="roundRect">
            <a:avLst>
              <a:gd name="adj" fmla="val 20000"/>
            </a:avLst>
          </a:prstGeom>
          <a:solidFill>
            <a:srgbClr val="3768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文字 632.06"/>
          <p:cNvSpPr txBox="1"/>
          <p:nvPr/>
        </p:nvSpPr>
        <p:spPr>
          <a:xfrm>
            <a:off x="6244923" y="3901516"/>
            <a:ext cx="786812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23466D"/>
                </a:solidFill>
                <a:latin typeface="Arial"/>
                <a:ea typeface="Microsoft YaHei"/>
              </a:rPr>
              <a:t>632.06</a:t>
            </a:r>
          </a:p>
        </p:txBody>
      </p:sp>
      <p:sp>
        <p:nvSpPr>
          <p:cNvPr id="40" name="文字 0"/>
          <p:cNvSpPr txBox="1"/>
          <p:nvPr/>
        </p:nvSpPr>
        <p:spPr>
          <a:xfrm>
            <a:off x="1527048" y="4232414"/>
            <a:ext cx="101155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8A98AA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41" name="文字 450"/>
          <p:cNvSpPr txBox="1"/>
          <p:nvPr/>
        </p:nvSpPr>
        <p:spPr>
          <a:xfrm>
            <a:off x="3581447" y="4232414"/>
            <a:ext cx="212026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8A98AA"/>
                </a:solidFill>
                <a:latin typeface="Microsoft YaHei"/>
                <a:ea typeface="Microsoft YaHei"/>
              </a:rPr>
              <a:t>450</a:t>
            </a:r>
          </a:p>
        </p:txBody>
      </p:sp>
      <p:sp>
        <p:nvSpPr>
          <p:cNvPr id="42" name="文字 900 μs"/>
          <p:cNvSpPr txBox="1"/>
          <p:nvPr/>
        </p:nvSpPr>
        <p:spPr>
          <a:xfrm>
            <a:off x="5746575" y="4232414"/>
            <a:ext cx="34332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8A98AA"/>
                </a:solidFill>
                <a:latin typeface="Microsoft YaHei"/>
                <a:ea typeface="Microsoft YaHei"/>
              </a:rPr>
              <a:t>900 μs</a:t>
            </a:r>
          </a:p>
        </p:txBody>
      </p:sp>
      <p:sp>
        <p:nvSpPr>
          <p:cNvPr id="43" name="形状 evidence-delta"/>
          <p:cNvSpPr/>
          <p:nvPr/>
        </p:nvSpPr>
        <p:spPr>
          <a:xfrm>
            <a:off x="704088" y="4503991"/>
            <a:ext cx="6281928" cy="3383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704088" y="4503991"/>
            <a:ext cx="6281928" cy="0"/>
          </a:xfrm>
          <a:prstGeom prst="line">
            <a:avLst/>
          </a:prstGeom>
          <a:ln w="9144">
            <a:solidFill>
              <a:srgbClr val="E0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字 多 task 相对单 SPMD：−10.51 μs / −1.66%"/>
          <p:cNvSpPr txBox="1"/>
          <p:nvPr/>
        </p:nvSpPr>
        <p:spPr>
          <a:xfrm>
            <a:off x="704088" y="4634750"/>
            <a:ext cx="3219973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246C57"/>
                </a:solidFill>
                <a:latin typeface="Microsoft YaHei"/>
                <a:ea typeface="Microsoft YaHei"/>
              </a:rPr>
              <a:t>多 task 相对单 SPMD：−10.51 μs / −1.66%</a:t>
            </a:r>
          </a:p>
        </p:txBody>
      </p:sp>
      <p:sp>
        <p:nvSpPr>
          <p:cNvPr id="46" name="文字 五个窗口"/>
          <p:cNvSpPr txBox="1"/>
          <p:nvPr/>
        </p:nvSpPr>
        <p:spPr>
          <a:xfrm>
            <a:off x="704088" y="4982222"/>
            <a:ext cx="557784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五个窗口</a:t>
            </a:r>
          </a:p>
        </p:txBody>
      </p:sp>
      <p:sp>
        <p:nvSpPr>
          <p:cNvPr id="47" name="文字 min"/>
          <p:cNvSpPr txBox="1"/>
          <p:nvPr/>
        </p:nvSpPr>
        <p:spPr>
          <a:xfrm>
            <a:off x="3856624" y="4977650"/>
            <a:ext cx="269033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min</a:t>
            </a:r>
          </a:p>
        </p:txBody>
      </p:sp>
      <p:sp>
        <p:nvSpPr>
          <p:cNvPr id="48" name="文字 mean"/>
          <p:cNvSpPr txBox="1"/>
          <p:nvPr/>
        </p:nvSpPr>
        <p:spPr>
          <a:xfrm>
            <a:off x="5206222" y="4977650"/>
            <a:ext cx="37233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mean</a:t>
            </a:r>
          </a:p>
        </p:txBody>
      </p:sp>
      <p:sp>
        <p:nvSpPr>
          <p:cNvPr id="49" name="文字 max"/>
          <p:cNvSpPr txBox="1"/>
          <p:nvPr/>
        </p:nvSpPr>
        <p:spPr>
          <a:xfrm>
            <a:off x="6739270" y="4977650"/>
            <a:ext cx="29246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max</a:t>
            </a:r>
          </a:p>
        </p:txBody>
      </p:sp>
      <p:sp>
        <p:nvSpPr>
          <p:cNvPr id="50" name="文字 多 task"/>
          <p:cNvSpPr txBox="1"/>
          <p:nvPr/>
        </p:nvSpPr>
        <p:spPr>
          <a:xfrm>
            <a:off x="704088" y="5201678"/>
            <a:ext cx="439626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多 task</a:t>
            </a:r>
          </a:p>
        </p:txBody>
      </p:sp>
      <p:sp>
        <p:nvSpPr>
          <p:cNvPr id="51" name="文字 603.40"/>
          <p:cNvSpPr txBox="1"/>
          <p:nvPr/>
        </p:nvSpPr>
        <p:spPr>
          <a:xfrm>
            <a:off x="3693033" y="51971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603.40</a:t>
            </a:r>
          </a:p>
        </p:txBody>
      </p:sp>
      <p:sp>
        <p:nvSpPr>
          <p:cNvPr id="52" name="文字 621.55"/>
          <p:cNvSpPr txBox="1"/>
          <p:nvPr/>
        </p:nvSpPr>
        <p:spPr>
          <a:xfrm>
            <a:off x="5145928" y="51971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621.55</a:t>
            </a:r>
          </a:p>
        </p:txBody>
      </p:sp>
      <p:sp>
        <p:nvSpPr>
          <p:cNvPr id="53" name="文字 664.38"/>
          <p:cNvSpPr txBox="1"/>
          <p:nvPr/>
        </p:nvSpPr>
        <p:spPr>
          <a:xfrm>
            <a:off x="6599110" y="51971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664.38</a:t>
            </a:r>
          </a:p>
        </p:txBody>
      </p:sp>
      <p:sp>
        <p:nvSpPr>
          <p:cNvPr id="54" name="文字 单 SPMD"/>
          <p:cNvSpPr txBox="1"/>
          <p:nvPr/>
        </p:nvSpPr>
        <p:spPr>
          <a:xfrm>
            <a:off x="704088" y="5430278"/>
            <a:ext cx="546211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单 SPMD</a:t>
            </a:r>
          </a:p>
        </p:txBody>
      </p:sp>
      <p:sp>
        <p:nvSpPr>
          <p:cNvPr id="55" name="文字 625.26"/>
          <p:cNvSpPr txBox="1"/>
          <p:nvPr/>
        </p:nvSpPr>
        <p:spPr>
          <a:xfrm>
            <a:off x="3693033" y="54257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625.26</a:t>
            </a:r>
          </a:p>
        </p:txBody>
      </p:sp>
      <p:sp>
        <p:nvSpPr>
          <p:cNvPr id="56" name="文字 632.06"/>
          <p:cNvSpPr txBox="1"/>
          <p:nvPr/>
        </p:nvSpPr>
        <p:spPr>
          <a:xfrm>
            <a:off x="5145928" y="54257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632.06</a:t>
            </a:r>
          </a:p>
        </p:txBody>
      </p:sp>
      <p:sp>
        <p:nvSpPr>
          <p:cNvPr id="57" name="文字 644.70"/>
          <p:cNvSpPr txBox="1"/>
          <p:nvPr/>
        </p:nvSpPr>
        <p:spPr>
          <a:xfrm>
            <a:off x="6599110" y="54257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644.70</a:t>
            </a:r>
          </a:p>
        </p:txBody>
      </p:sp>
      <p:sp>
        <p:nvSpPr>
          <p:cNvPr id="58" name="形状 evidence-card"/>
          <p:cNvSpPr/>
          <p:nvPr/>
        </p:nvSpPr>
        <p:spPr>
          <a:xfrm>
            <a:off x="7415783" y="2891218"/>
            <a:ext cx="6739128" cy="283464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 w="9144">
            <a:solidFill>
              <a:srgbClr val="CFDEE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标题 128K / B16 / S6"/>
          <p:cNvSpPr txBox="1"/>
          <p:nvPr/>
        </p:nvSpPr>
        <p:spPr>
          <a:xfrm>
            <a:off x="7644383" y="3076841"/>
            <a:ext cx="1702784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 lang="zh-CN" dirty="0">
                <a:solidFill>
                  <a:srgbClr val="142C45"/>
                </a:solidFill>
                <a:latin typeface="Microsoft YaHei"/>
                <a:ea typeface="Microsoft YaHei"/>
              </a:rPr>
              <a:t>128K / B16 / S6</a:t>
            </a:r>
          </a:p>
        </p:txBody>
      </p:sp>
      <p:sp>
        <p:nvSpPr>
          <p:cNvPr id="60" name="形状 winner blue"/>
          <p:cNvSpPr/>
          <p:nvPr/>
        </p:nvSpPr>
        <p:spPr>
          <a:xfrm>
            <a:off x="12622863" y="3110674"/>
            <a:ext cx="1303448" cy="274320"/>
          </a:xfrm>
          <a:prstGeom prst="roundRect">
            <a:avLst>
              <a:gd name="adj" fmla="val 20000"/>
            </a:avLst>
          </a:prstGeom>
          <a:solidFill>
            <a:srgbClr val="ED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文字 单 SPMD 均值更短"/>
          <p:cNvSpPr txBox="1"/>
          <p:nvPr/>
        </p:nvSpPr>
        <p:spPr>
          <a:xfrm>
            <a:off x="12714303" y="3168281"/>
            <a:ext cx="1166288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305FBD"/>
                </a:solidFill>
                <a:latin typeface="Microsoft YaHei"/>
                <a:ea typeface="Microsoft YaHei"/>
              </a:rPr>
              <a:t>单 SPMD 均值更短</a:t>
            </a:r>
          </a:p>
        </p:txBody>
      </p:sp>
      <p:sp>
        <p:nvSpPr>
          <p:cNvPr id="62" name="文字 多 task"/>
          <p:cNvSpPr txBox="1"/>
          <p:nvPr/>
        </p:nvSpPr>
        <p:spPr>
          <a:xfrm>
            <a:off x="7644383" y="3612622"/>
            <a:ext cx="46777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5D718B"/>
                </a:solidFill>
                <a:latin typeface="Microsoft YaHei"/>
                <a:ea typeface="Microsoft YaHei"/>
              </a:rPr>
              <a:t>多 task</a:t>
            </a:r>
          </a:p>
        </p:txBody>
      </p:sp>
      <p:sp>
        <p:nvSpPr>
          <p:cNvPr id="63" name="形状 bar-track"/>
          <p:cNvSpPr/>
          <p:nvPr/>
        </p:nvSpPr>
        <p:spPr>
          <a:xfrm>
            <a:off x="8467344" y="3577875"/>
            <a:ext cx="4517136" cy="228600"/>
          </a:xfrm>
          <a:prstGeom prst="roundRect">
            <a:avLst>
              <a:gd name="adj" fmla="val 20000"/>
            </a:avLst>
          </a:prstGeom>
          <a:solidFill>
            <a:srgbClr val="F0F3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形状 bar-fill"/>
          <p:cNvSpPr/>
          <p:nvPr/>
        </p:nvSpPr>
        <p:spPr>
          <a:xfrm>
            <a:off x="8467344" y="3577875"/>
            <a:ext cx="4180665" cy="228600"/>
          </a:xfrm>
          <a:prstGeom prst="roundRect">
            <a:avLst>
              <a:gd name="adj" fmla="val 20000"/>
            </a:avLst>
          </a:prstGeom>
          <a:solidFill>
            <a:srgbClr val="1480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文字 832.97"/>
          <p:cNvSpPr txBox="1"/>
          <p:nvPr/>
        </p:nvSpPr>
        <p:spPr>
          <a:xfrm>
            <a:off x="13185219" y="3570617"/>
            <a:ext cx="786812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23466D"/>
                </a:solidFill>
                <a:latin typeface="Arial"/>
                <a:ea typeface="Microsoft YaHei"/>
              </a:rPr>
              <a:t>832.97</a:t>
            </a:r>
          </a:p>
        </p:txBody>
      </p:sp>
      <p:sp>
        <p:nvSpPr>
          <p:cNvPr id="66" name="文字 单 SPMD"/>
          <p:cNvSpPr txBox="1"/>
          <p:nvPr/>
        </p:nvSpPr>
        <p:spPr>
          <a:xfrm>
            <a:off x="7644383" y="3943521"/>
            <a:ext cx="581929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5D718B"/>
                </a:solidFill>
                <a:latin typeface="Microsoft YaHei"/>
                <a:ea typeface="Microsoft YaHei"/>
              </a:rPr>
              <a:t>单 SPMD</a:t>
            </a:r>
          </a:p>
        </p:txBody>
      </p:sp>
      <p:sp>
        <p:nvSpPr>
          <p:cNvPr id="67" name="形状 bar-track"/>
          <p:cNvSpPr/>
          <p:nvPr/>
        </p:nvSpPr>
        <p:spPr>
          <a:xfrm>
            <a:off x="8467344" y="3908774"/>
            <a:ext cx="4517136" cy="228600"/>
          </a:xfrm>
          <a:prstGeom prst="roundRect">
            <a:avLst>
              <a:gd name="adj" fmla="val 20000"/>
            </a:avLst>
          </a:prstGeom>
          <a:solidFill>
            <a:srgbClr val="F0F3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形状 bar-fill blue"/>
          <p:cNvSpPr/>
          <p:nvPr/>
        </p:nvSpPr>
        <p:spPr>
          <a:xfrm>
            <a:off x="8467344" y="3908774"/>
            <a:ext cx="4023645" cy="228600"/>
          </a:xfrm>
          <a:prstGeom prst="roundRect">
            <a:avLst>
              <a:gd name="adj" fmla="val 20000"/>
            </a:avLst>
          </a:prstGeom>
          <a:solidFill>
            <a:srgbClr val="3768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文字 801.68"/>
          <p:cNvSpPr txBox="1"/>
          <p:nvPr/>
        </p:nvSpPr>
        <p:spPr>
          <a:xfrm>
            <a:off x="13185219" y="3901516"/>
            <a:ext cx="786812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 lang="zh-CN" dirty="0">
                <a:solidFill>
                  <a:srgbClr val="23466D"/>
                </a:solidFill>
                <a:latin typeface="Arial"/>
                <a:ea typeface="Microsoft YaHei"/>
              </a:rPr>
              <a:t>801.68</a:t>
            </a:r>
          </a:p>
        </p:txBody>
      </p:sp>
      <p:sp>
        <p:nvSpPr>
          <p:cNvPr id="70" name="文字 0"/>
          <p:cNvSpPr txBox="1"/>
          <p:nvPr/>
        </p:nvSpPr>
        <p:spPr>
          <a:xfrm>
            <a:off x="8467344" y="4232414"/>
            <a:ext cx="101155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8A98AA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71" name="文字 450"/>
          <p:cNvSpPr txBox="1"/>
          <p:nvPr/>
        </p:nvSpPr>
        <p:spPr>
          <a:xfrm>
            <a:off x="10521743" y="4232414"/>
            <a:ext cx="212026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8A98AA"/>
                </a:solidFill>
                <a:latin typeface="Microsoft YaHei"/>
                <a:ea typeface="Microsoft YaHei"/>
              </a:rPr>
              <a:t>450</a:t>
            </a:r>
          </a:p>
        </p:txBody>
      </p:sp>
      <p:sp>
        <p:nvSpPr>
          <p:cNvPr id="72" name="文字 900 μs"/>
          <p:cNvSpPr txBox="1"/>
          <p:nvPr/>
        </p:nvSpPr>
        <p:spPr>
          <a:xfrm>
            <a:off x="12686871" y="4232414"/>
            <a:ext cx="34332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 lang="zh-CN" dirty="0">
                <a:solidFill>
                  <a:srgbClr val="8A98AA"/>
                </a:solidFill>
                <a:latin typeface="Microsoft YaHei"/>
                <a:ea typeface="Microsoft YaHei"/>
              </a:rPr>
              <a:t>900 μs</a:t>
            </a:r>
          </a:p>
        </p:txBody>
      </p:sp>
      <p:sp>
        <p:nvSpPr>
          <p:cNvPr id="73" name="形状 evidence-delta blue"/>
          <p:cNvSpPr/>
          <p:nvPr/>
        </p:nvSpPr>
        <p:spPr>
          <a:xfrm>
            <a:off x="7644383" y="4503991"/>
            <a:ext cx="6281928" cy="3383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7644383" y="4503991"/>
            <a:ext cx="6281929" cy="0"/>
          </a:xfrm>
          <a:prstGeom prst="line">
            <a:avLst/>
          </a:prstGeom>
          <a:ln w="9144">
            <a:solidFill>
              <a:srgbClr val="E0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文字 多 task 相对单 SPMD：+31.28 μs / +3.90%"/>
          <p:cNvSpPr txBox="1"/>
          <p:nvPr/>
        </p:nvSpPr>
        <p:spPr>
          <a:xfrm>
            <a:off x="7644383" y="4634750"/>
            <a:ext cx="3219973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 lang="zh-CN" dirty="0">
                <a:solidFill>
                  <a:srgbClr val="32599D"/>
                </a:solidFill>
                <a:latin typeface="Microsoft YaHei"/>
                <a:ea typeface="Microsoft YaHei"/>
              </a:rPr>
              <a:t>多 task 相对单 SPMD：+31.28 μs / +3.90%</a:t>
            </a:r>
          </a:p>
        </p:txBody>
      </p:sp>
      <p:sp>
        <p:nvSpPr>
          <p:cNvPr id="76" name="文字 五个窗口"/>
          <p:cNvSpPr txBox="1"/>
          <p:nvPr/>
        </p:nvSpPr>
        <p:spPr>
          <a:xfrm>
            <a:off x="7644383" y="4982222"/>
            <a:ext cx="557784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五个窗口</a:t>
            </a:r>
          </a:p>
        </p:txBody>
      </p:sp>
      <p:sp>
        <p:nvSpPr>
          <p:cNvPr id="77" name="文字 min"/>
          <p:cNvSpPr txBox="1"/>
          <p:nvPr/>
        </p:nvSpPr>
        <p:spPr>
          <a:xfrm>
            <a:off x="10796920" y="4977650"/>
            <a:ext cx="269033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min</a:t>
            </a:r>
          </a:p>
        </p:txBody>
      </p:sp>
      <p:sp>
        <p:nvSpPr>
          <p:cNvPr id="78" name="文字 mean"/>
          <p:cNvSpPr txBox="1"/>
          <p:nvPr/>
        </p:nvSpPr>
        <p:spPr>
          <a:xfrm>
            <a:off x="12146518" y="4977650"/>
            <a:ext cx="37233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mean</a:t>
            </a:r>
          </a:p>
        </p:txBody>
      </p:sp>
      <p:sp>
        <p:nvSpPr>
          <p:cNvPr id="79" name="文字 max"/>
          <p:cNvSpPr txBox="1"/>
          <p:nvPr/>
        </p:nvSpPr>
        <p:spPr>
          <a:xfrm>
            <a:off x="13679566" y="4977650"/>
            <a:ext cx="29246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max</a:t>
            </a:r>
          </a:p>
        </p:txBody>
      </p:sp>
      <p:sp>
        <p:nvSpPr>
          <p:cNvPr id="80" name="文字 多 task"/>
          <p:cNvSpPr txBox="1"/>
          <p:nvPr/>
        </p:nvSpPr>
        <p:spPr>
          <a:xfrm>
            <a:off x="7644383" y="5201678"/>
            <a:ext cx="439626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多 task</a:t>
            </a:r>
          </a:p>
        </p:txBody>
      </p:sp>
      <p:sp>
        <p:nvSpPr>
          <p:cNvPr id="81" name="文字 821.40"/>
          <p:cNvSpPr txBox="1"/>
          <p:nvPr/>
        </p:nvSpPr>
        <p:spPr>
          <a:xfrm>
            <a:off x="10633329" y="51971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821.40</a:t>
            </a:r>
          </a:p>
        </p:txBody>
      </p:sp>
      <p:sp>
        <p:nvSpPr>
          <p:cNvPr id="82" name="文字 832.97"/>
          <p:cNvSpPr txBox="1"/>
          <p:nvPr/>
        </p:nvSpPr>
        <p:spPr>
          <a:xfrm>
            <a:off x="12086224" y="51971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832.97</a:t>
            </a:r>
          </a:p>
        </p:txBody>
      </p:sp>
      <p:sp>
        <p:nvSpPr>
          <p:cNvPr id="83" name="文字 843.04"/>
          <p:cNvSpPr txBox="1"/>
          <p:nvPr/>
        </p:nvSpPr>
        <p:spPr>
          <a:xfrm>
            <a:off x="13539406" y="51971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843.04</a:t>
            </a:r>
          </a:p>
        </p:txBody>
      </p:sp>
      <p:sp>
        <p:nvSpPr>
          <p:cNvPr id="84" name="文字 单 SPMD"/>
          <p:cNvSpPr txBox="1"/>
          <p:nvPr/>
        </p:nvSpPr>
        <p:spPr>
          <a:xfrm>
            <a:off x="7644383" y="5430278"/>
            <a:ext cx="546211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单 SPMD</a:t>
            </a:r>
          </a:p>
        </p:txBody>
      </p:sp>
      <p:sp>
        <p:nvSpPr>
          <p:cNvPr id="85" name="文字 792.86"/>
          <p:cNvSpPr txBox="1"/>
          <p:nvPr/>
        </p:nvSpPr>
        <p:spPr>
          <a:xfrm>
            <a:off x="10633329" y="54257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792.86</a:t>
            </a:r>
          </a:p>
        </p:txBody>
      </p:sp>
      <p:sp>
        <p:nvSpPr>
          <p:cNvPr id="86" name="文字 801.68"/>
          <p:cNvSpPr txBox="1"/>
          <p:nvPr/>
        </p:nvSpPr>
        <p:spPr>
          <a:xfrm>
            <a:off x="12086224" y="54257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801.68</a:t>
            </a:r>
          </a:p>
        </p:txBody>
      </p:sp>
      <p:sp>
        <p:nvSpPr>
          <p:cNvPr id="87" name="文字 808.24"/>
          <p:cNvSpPr txBox="1"/>
          <p:nvPr/>
        </p:nvSpPr>
        <p:spPr>
          <a:xfrm>
            <a:off x="13539406" y="5425706"/>
            <a:ext cx="43262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66798F"/>
                </a:solidFill>
                <a:latin typeface="Microsoft YaHei"/>
                <a:ea typeface="Microsoft YaHei"/>
              </a:rPr>
              <a:t>808.24</a:t>
            </a:r>
          </a:p>
        </p:txBody>
      </p:sp>
      <p:sp>
        <p:nvSpPr>
          <p:cNvPr id="88" name="文字 Δ% =（多 task − 单 SPMD）/ 单 SPMD"/>
          <p:cNvSpPr txBox="1"/>
          <p:nvPr/>
        </p:nvSpPr>
        <p:spPr>
          <a:xfrm>
            <a:off x="11850338" y="5865761"/>
            <a:ext cx="2350293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lang="zh-CN" dirty="0">
                <a:solidFill>
                  <a:srgbClr val="6A7E93"/>
                </a:solidFill>
                <a:latin typeface="Microsoft YaHei"/>
                <a:ea typeface="Microsoft YaHei"/>
              </a:rPr>
              <a:t>Δ% =（多 task − 单 SPMD）/ 单 SPMD</a:t>
            </a:r>
          </a:p>
        </p:txBody>
      </p:sp>
      <p:sp>
        <p:nvSpPr>
          <p:cNvPr id="89" name="形状 conclusion"/>
          <p:cNvSpPr/>
          <p:nvPr/>
        </p:nvSpPr>
        <p:spPr>
          <a:xfrm>
            <a:off x="475488" y="6237922"/>
            <a:ext cx="6748272" cy="1136427"/>
          </a:xfrm>
          <a:prstGeom prst="roundRect">
            <a:avLst>
              <a:gd name="adj" fmla="val 8046"/>
            </a:avLst>
          </a:prstGeom>
          <a:solidFill>
            <a:srgbClr val="203E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标题 减少派发，并不保证 L1 更短"/>
          <p:cNvSpPr txBox="1"/>
          <p:nvPr/>
        </p:nvSpPr>
        <p:spPr>
          <a:xfrm>
            <a:off x="658368" y="6405257"/>
            <a:ext cx="2581608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lang="zh-CN" dirty="0">
                <a:solidFill>
                  <a:srgbClr val="FFFFFF"/>
                </a:solidFill>
                <a:latin typeface="Microsoft YaHei"/>
                <a:ea typeface="Microsoft YaHei"/>
              </a:rPr>
              <a:t>减少派发，并不保证 L1 更短</a:t>
            </a:r>
          </a:p>
        </p:txBody>
      </p:sp>
      <p:sp>
        <p:nvSpPr>
          <p:cNvPr id="91" name="文字 动态 Attention 应同时评估负载均衡与调度成本；"/>
          <p:cNvSpPr txBox="1"/>
          <p:nvPr/>
        </p:nvSpPr>
        <p:spPr>
          <a:xfrm>
            <a:off x="658368" y="6759016"/>
            <a:ext cx="3220974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D3E2F6"/>
                </a:solidFill>
                <a:latin typeface="Microsoft YaHei"/>
                <a:ea typeface="Microsoft YaHei"/>
              </a:rPr>
              <a:t>动态 Attention 应同时评估负载均衡与调度成本；</a:t>
            </a:r>
          </a:p>
        </p:txBody>
      </p:sp>
      <p:sp>
        <p:nvSpPr>
          <p:cNvPr id="92" name="文字 单 SPMD 的独立部署价值，与具体场景的速度优势分别判断。"/>
          <p:cNvSpPr txBox="1"/>
          <p:nvPr/>
        </p:nvSpPr>
        <p:spPr>
          <a:xfrm>
            <a:off x="658368" y="6985758"/>
            <a:ext cx="4020645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D3E2F6"/>
                </a:solidFill>
                <a:latin typeface="Microsoft YaHei"/>
                <a:ea typeface="Microsoft YaHei"/>
              </a:rPr>
              <a:t>单 SPMD 的独立部署价值，与具体场景的速度优势分别判断。</a:t>
            </a:r>
          </a:p>
        </p:txBody>
      </p:sp>
      <p:sp>
        <p:nvSpPr>
          <p:cNvPr id="93" name="形状 conclusion"/>
          <p:cNvSpPr/>
          <p:nvPr/>
        </p:nvSpPr>
        <p:spPr>
          <a:xfrm>
            <a:off x="7406640" y="6237922"/>
            <a:ext cx="6748272" cy="1136427"/>
          </a:xfrm>
          <a:prstGeom prst="roundRect">
            <a:avLst>
              <a:gd name="adj" fmla="val 8046"/>
            </a:avLst>
          </a:prstGeom>
          <a:solidFill>
            <a:srgbClr val="ECF6F0"/>
          </a:solidFill>
          <a:ln w="9144">
            <a:solidFill>
              <a:srgbClr val="C5DF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标题 动态调度仍有继续优化的空间"/>
          <p:cNvSpPr txBox="1"/>
          <p:nvPr/>
        </p:nvSpPr>
        <p:spPr>
          <a:xfrm>
            <a:off x="7598664" y="6414401"/>
            <a:ext cx="266090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 lang="zh-CN" dirty="0">
                <a:solidFill>
                  <a:srgbClr val="19644E"/>
                </a:solidFill>
                <a:latin typeface="Microsoft YaHei"/>
                <a:ea typeface="Microsoft YaHei"/>
              </a:rPr>
              <a:t>动态调度仍有继续优化的空间</a:t>
            </a:r>
          </a:p>
        </p:txBody>
      </p:sp>
      <p:sp>
        <p:nvSpPr>
          <p:cNvPr id="95" name="文字 这是一轮正式版本的对照，不是 MPMD 的性能上限。"/>
          <p:cNvSpPr txBox="1"/>
          <p:nvPr/>
        </p:nvSpPr>
        <p:spPr>
          <a:xfrm>
            <a:off x="7598664" y="6768160"/>
            <a:ext cx="3486864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557A69"/>
                </a:solidFill>
                <a:latin typeface="Microsoft YaHei"/>
                <a:ea typeface="Microsoft YaHei"/>
              </a:rPr>
              <a:t>这是一轮正式版本的对照，不是 MPMD 的性能上限。</a:t>
            </a:r>
          </a:p>
        </p:txBody>
      </p:sp>
      <p:sp>
        <p:nvSpPr>
          <p:cNvPr id="96" name="文字 调度开销与执行效率仍可持续改进。"/>
          <p:cNvSpPr txBox="1"/>
          <p:nvPr/>
        </p:nvSpPr>
        <p:spPr>
          <a:xfrm>
            <a:off x="7598664" y="6994902"/>
            <a:ext cx="2386584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 lang="zh-CN" dirty="0">
                <a:solidFill>
                  <a:srgbClr val="557A69"/>
                </a:solidFill>
                <a:latin typeface="Microsoft YaHei"/>
                <a:ea typeface="Microsoft YaHei"/>
              </a:rPr>
              <a:t>调度开销与执行效率仍可持续改进。</a:t>
            </a:r>
          </a:p>
        </p:txBody>
      </p:sp>
      <p:sp>
        <p:nvSpPr>
          <p:cNvPr id="97" name="文字 结果支持“单 SPMD 不必然更快”；这些总耗时未单独隔离调度策略，不能把差异全部归因为负载均衡，也不代表端到端整模型结果。"/>
          <p:cNvSpPr txBox="1"/>
          <p:nvPr/>
        </p:nvSpPr>
        <p:spPr>
          <a:xfrm>
            <a:off x="475488" y="7505109"/>
            <a:ext cx="7457217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 lang="zh-CN" dirty="0">
                <a:solidFill>
                  <a:srgbClr val="7B8899"/>
                </a:solidFill>
                <a:latin typeface="Microsoft YaHei"/>
                <a:ea typeface="Microsoft YaHei"/>
              </a:rPr>
              <a:t>结果支持“单 SPMD 不必然更快”；这些总耗时未单独隔离调度策略，不能把差异全部归因为负载均衡，也不代表端到端整模型结果。</a:t>
            </a:r>
          </a:p>
        </p:txBody>
      </p:sp>
      <p:sp>
        <p:nvSpPr>
          <p:cNvPr id="98" name="形状 "/>
          <p:cNvSpPr/>
          <p:nvPr/>
        </p:nvSpPr>
        <p:spPr>
          <a:xfrm>
            <a:off x="475488" y="7772400"/>
            <a:ext cx="13679424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475488" y="7772400"/>
            <a:ext cx="13679424" cy="0"/>
          </a:xfrm>
          <a:prstGeom prst="line">
            <a:avLst/>
          </a:prstGeom>
          <a:ln w="9144">
            <a:solidFill>
              <a:srgbClr val="DC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文字 来源：19a20480 · 验证日志 §671；正式多 task 为 cc07f727。单卡、layer4 真实权重、TP1、NZ2、S6、CANN 9.2、同一冻结工具链；差距按未舍入均值计算。"/>
          <p:cNvSpPr txBox="1"/>
          <p:nvPr/>
        </p:nvSpPr>
        <p:spPr>
          <a:xfrm>
            <a:off x="475488" y="7894015"/>
            <a:ext cx="7730394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A889A"/>
                </a:solidFill>
                <a:latin typeface="Microsoft YaHei"/>
                <a:ea typeface="Microsoft YaHei"/>
              </a:rPr>
              <a:t>来源：19a20480 · 验证日志 §671；正式多 task 为 cc07f727。单卡、layer4 真实权重、TP1、NZ2、S6、CANN 9.2、同一冻结工具链；差距按未舍入均值计算。</a:t>
            </a:r>
          </a:p>
        </p:txBody>
      </p:sp>
      <p:sp>
        <p:nvSpPr>
          <p:cNvPr id="101" name="文字 来源见备注"/>
          <p:cNvSpPr txBox="1"/>
          <p:nvPr/>
        </p:nvSpPr>
        <p:spPr>
          <a:xfrm>
            <a:off x="12301823" y="7903159"/>
            <a:ext cx="688800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536D94"/>
                </a:solidFill>
                <a:latin typeface="Microsoft YaHei"/>
                <a:ea typeface="Microsoft YaHei"/>
              </a:rPr>
              <a:t>来源见备注</a:t>
            </a:r>
          </a:p>
        </p:txBody>
      </p:sp>
      <p:sp>
        <p:nvSpPr>
          <p:cNvPr id="102" name="文字 回到主线 ↶">
            <a:hlinkClick action="ppaction://hlinksldjump" r:id="rId3"/>
          </p:cNvPr>
          <p:cNvSpPr txBox="1"/>
          <p:nvPr/>
        </p:nvSpPr>
        <p:spPr>
          <a:xfrm>
            <a:off x="13100351" y="7903159"/>
            <a:ext cx="605075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536D94"/>
                </a:solidFill>
                <a:latin typeface="Microsoft YaHei"/>
                <a:ea typeface="Microsoft YaHei"/>
              </a:rPr>
              <a:t>回到主线 ↶</a:t>
            </a:r>
          </a:p>
        </p:txBody>
      </p:sp>
      <p:sp>
        <p:nvSpPr>
          <p:cNvPr id="103" name="文字 04 / 04"/>
          <p:cNvSpPr txBox="1"/>
          <p:nvPr/>
        </p:nvSpPr>
        <p:spPr>
          <a:xfrm>
            <a:off x="13815155" y="7894015"/>
            <a:ext cx="38547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lang="zh-CN" dirty="0">
                <a:solidFill>
                  <a:srgbClr val="7A889A"/>
                </a:solidFill>
                <a:latin typeface="Microsoft YaHei"/>
                <a:ea typeface="Microsoft YaHei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PyPTO：从动态调度到独立执行</dc:title>
  <dc:subject>HC_pre · MPMD → SPMD → ACLNN / SuperKernel · CSA L1 实测</dc:subject>
  <dc:creator/>
  <cp:keywords>PyPTO,MPMD,SPMD,ACLNN,SuperKernel,CSA,HC_pre</cp:keywords>
  <dc:description>Converted from the four-slide HTML using editable text and vector shapes. Source references are in slide notes.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